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7" r:id="rId3"/>
    <p:sldId id="268" r:id="rId4"/>
    <p:sldId id="264" r:id="rId5"/>
    <p:sldId id="265" r:id="rId6"/>
    <p:sldId id="259" r:id="rId7"/>
    <p:sldId id="276" r:id="rId8"/>
    <p:sldId id="274" r:id="rId9"/>
    <p:sldId id="281" r:id="rId10"/>
    <p:sldId id="282" r:id="rId11"/>
    <p:sldId id="286" r:id="rId12"/>
    <p:sldId id="285" r:id="rId13"/>
    <p:sldId id="287" r:id="rId14"/>
    <p:sldId id="258" r:id="rId15"/>
    <p:sldId id="269" r:id="rId16"/>
    <p:sldId id="283" r:id="rId17"/>
    <p:sldId id="263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4AF02F-5651-3946-8958-0F31918505EB}">
          <p14:sldIdLst>
            <p14:sldId id="256"/>
            <p14:sldId id="277"/>
            <p14:sldId id="268"/>
            <p14:sldId id="264"/>
            <p14:sldId id="265"/>
            <p14:sldId id="259"/>
            <p14:sldId id="276"/>
            <p14:sldId id="274"/>
            <p14:sldId id="281"/>
            <p14:sldId id="282"/>
            <p14:sldId id="286"/>
            <p14:sldId id="285"/>
            <p14:sldId id="287"/>
            <p14:sldId id="258"/>
            <p14:sldId id="269"/>
          </p14:sldIdLst>
        </p14:section>
        <p14:section name="Appendix" id="{79C2BE9A-3F90-7241-85E3-888E822B63FB}">
          <p14:sldIdLst>
            <p14:sldId id="283"/>
            <p14:sldId id="263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01"/>
    <p:restoredTop sz="94694"/>
  </p:normalViewPr>
  <p:slideViewPr>
    <p:cSldViewPr snapToGrid="0">
      <p:cViewPr>
        <p:scale>
          <a:sx n="100" d="100"/>
          <a:sy n="100" d="100"/>
        </p:scale>
        <p:origin x="10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27A2D-77E5-5147-8CF1-47962A08877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1B704-D8BC-4048-ABBF-4CF64B0F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21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C742E-587A-7E19-CB2F-E21D9B12E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9F6C5-3BFA-2EB6-4996-040E1A8FF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887-3D6F-9B13-32B1-CF1BDBBE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2CE42-FD0E-ECEF-770E-716418DE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DD9AA-E534-28B2-53FB-21AD099F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34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5FE0-B81B-9633-1AD7-2E2DED919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510EC-168B-1673-4EC4-1E4F0A572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EDDBF-A5AE-F610-9EE2-7858EA1A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72179-60E1-16D6-293C-6E23F9D5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08AA3-918C-9D0D-125D-8F42C6EAC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3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633C-9380-0AE3-0E58-686EF52E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98B80-1078-FBFB-29DF-9712BF70D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B6E37-6A64-C1BD-D2D5-B8B9D136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56913-7DF6-EE20-245A-A420EC098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C9819-AF52-F366-F927-4406E1F0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5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03BD-7606-5636-36C4-6C90F857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AFD7-59AE-D10E-A6C3-60297D077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70F26-8B99-467D-5F84-2B3B32038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8A95B-1D60-1BBD-7C48-F32B67EE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1A922-A773-2D72-D442-FF10748D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03081-D3D5-387B-D6BD-460F13C7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5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853B-1BA4-40C6-CD61-77135D6A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F27AA-E81B-F564-59A6-62B2E722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409BC-4C19-1E2D-D96C-067604249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4C501-4C43-5AF2-2312-AA9E9AE4B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6B7E33-027D-BF3C-CAE2-7F00B1EE8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B6C64-C096-89E2-62B6-53771A12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2B37BD-8777-3547-B515-7E0F7AA7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C1FCCA-CBEF-0EF5-C943-CD54C97D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5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15FF-46B1-1C07-B569-2CB30C15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24E3C-3188-0F0A-DD7A-947BC777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AC581-F845-D907-2191-F1827A07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2C0C2-9FCA-F63D-1C9B-2BF35639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3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7711A-0B6D-071B-F4AD-EFF780AF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EDD8D-93DF-613C-738C-A647923D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B4965-1B67-5E38-6FE8-192AD621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9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9F928-C4B8-7E3A-6783-93B1D3CC8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4B9B-E504-A783-0F04-59734133A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09744-984F-0DC7-E327-C929446CC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4CCCE-C3A1-1E85-3F72-48AD4CC7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7DF1E-68AF-196A-DB7C-BE113279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67F33-75BA-9E54-DB5C-FCC1A6F7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7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F82C-082A-822F-2BD2-3878DF86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83366-F444-DDEA-E4D6-74AE5BCAA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8ACDA-AAEF-5F29-64EC-780135849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963FB-FFB4-2B98-EC1E-B2FF86B0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C1AA7-0449-7FC1-1809-4C7CC89E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A366F-183F-24CE-8E2F-A5015253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2271-A067-1EE4-8C4C-DF2960DB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13A09-AF5E-7463-B18E-E4151EE62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E951D-D4E7-420B-DBC1-8BB56DC2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08979-3EE1-E44E-6F65-248AFEFF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67EA9-2991-323C-650E-942E70F2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4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EAF5A-8E5A-6B73-9A0A-D7C2CE6B8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48B87-64D2-E3D6-B1E3-69E7D6A22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68321-E76F-461E-DA9D-F65A2B3D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DA090-F8B8-A375-862A-CAD237B3E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87661-F390-2840-5D32-36C214F8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4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649CF-6BB7-6200-3D87-7C023F37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89B0D-D191-8217-9CF0-17DD34C1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17D93-D672-C011-AC9C-CE9C1F82C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591A5-A774-9B47-88E1-911E3B2568A5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43DEB-6F24-3EE3-2E4A-917C317CB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D4B22-A904-DE7E-2D1C-330A46FAF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F4432-C6F9-D149-9DC6-6BA46BC68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2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AA41-CDD8-D0B7-90E3-2F21041BE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APTUM </a:t>
            </a:r>
            <a:br>
              <a:rPr lang="en-US" dirty="0"/>
            </a:br>
            <a:r>
              <a:rPr lang="en-US" dirty="0"/>
              <a:t>2026 Second Half Kickoff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DA7B6-3FDB-4A9F-71A0-143A01EF21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How to get there from here….</a:t>
            </a:r>
          </a:p>
        </p:txBody>
      </p:sp>
    </p:spTree>
    <p:extLst>
      <p:ext uri="{BB962C8B-B14F-4D97-AF65-F5344CB8AC3E}">
        <p14:creationId xmlns:p14="http://schemas.microsoft.com/office/powerpoint/2010/main" val="222580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EA9EB-66B9-6C07-1E6D-751E0649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2226-6A13-8FA1-1BBF-63D2245F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work together.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B23D7-2482-F995-8127-84AA08058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6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1DEC9-2BA5-2C50-079B-9030FE18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0F906AF-6EEC-C0C8-D4B7-0CC069E7C396}"/>
              </a:ext>
            </a:extLst>
          </p:cNvPr>
          <p:cNvGrpSpPr/>
          <p:nvPr/>
        </p:nvGrpSpPr>
        <p:grpSpPr>
          <a:xfrm>
            <a:off x="2227849" y="1297460"/>
            <a:ext cx="7126217" cy="5214549"/>
            <a:chOff x="1647080" y="323102"/>
            <a:chExt cx="8361889" cy="611476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C36487-BE7A-167C-FF6D-09146B62B65F}"/>
                </a:ext>
              </a:extLst>
            </p:cNvPr>
            <p:cNvSpPr/>
            <p:nvPr/>
          </p:nvSpPr>
          <p:spPr>
            <a:xfrm>
              <a:off x="8068958" y="2240890"/>
              <a:ext cx="1940011" cy="233459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/>
                <a:t>Adam Nelson</a:t>
              </a:r>
            </a:p>
            <a:p>
              <a:pPr algn="ctr"/>
              <a:endParaRPr lang="en-US" sz="1400" b="1" dirty="0"/>
            </a:p>
            <a:p>
              <a:pPr algn="ctr"/>
              <a:r>
                <a:rPr lang="en-US" sz="1400" b="1" dirty="0"/>
                <a:t>VP, OPERATIONS</a:t>
              </a:r>
            </a:p>
            <a:p>
              <a:pPr algn="ctr"/>
              <a:endParaRPr lang="en-US" sz="14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DELIVERY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SCALABILITY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SLA &amp; COST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400" b="1" dirty="0"/>
            </a:p>
            <a:p>
              <a:pPr algn="ctr"/>
              <a:endParaRPr lang="en-US" sz="1400" b="1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6B7760D-724A-D516-5A72-0F31F6BC787D}"/>
                </a:ext>
              </a:extLst>
            </p:cNvPr>
            <p:cNvSpPr/>
            <p:nvPr/>
          </p:nvSpPr>
          <p:spPr>
            <a:xfrm>
              <a:off x="4804847" y="2238207"/>
              <a:ext cx="1956222" cy="2339965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/>
                <a:t>Sarah Blanchard</a:t>
              </a:r>
            </a:p>
            <a:p>
              <a:pPr algn="ctr"/>
              <a:endParaRPr lang="en-US" sz="1400" b="1" dirty="0"/>
            </a:p>
            <a:p>
              <a:pPr algn="ctr"/>
              <a:r>
                <a:rPr lang="en-US" sz="1400" b="1" dirty="0"/>
                <a:t>CFO</a:t>
              </a:r>
            </a:p>
            <a:p>
              <a:endParaRPr lang="en-US" sz="1400" b="1" dirty="0"/>
            </a:p>
            <a:p>
              <a:endParaRPr lang="en-US" sz="14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MARGIN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EBITDA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CASH FLOW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400" b="1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74E3414-0276-FEC7-4CCE-B933AA1FEF57}"/>
                </a:ext>
              </a:extLst>
            </p:cNvPr>
            <p:cNvSpPr/>
            <p:nvPr/>
          </p:nvSpPr>
          <p:spPr>
            <a:xfrm>
              <a:off x="1647080" y="2244386"/>
              <a:ext cx="2156146" cy="2327607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/>
                <a:t>Marc-Alex Forget</a:t>
              </a:r>
            </a:p>
            <a:p>
              <a:pPr algn="ctr"/>
              <a:endParaRPr lang="en-US" sz="1400" b="1" dirty="0"/>
            </a:p>
            <a:p>
              <a:pPr algn="ctr"/>
              <a:r>
                <a:rPr lang="en-US" sz="1400" b="1" dirty="0"/>
                <a:t>SALES &amp; MARKETING</a:t>
              </a:r>
            </a:p>
            <a:p>
              <a:pPr algn="ctr"/>
              <a:endParaRPr lang="en-US" sz="14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REVENUE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PIPELINE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 b="1" dirty="0"/>
                <a:t>MARKET GROWTH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4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4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400" dirty="0"/>
            </a:p>
          </p:txBody>
        </p:sp>
        <p:sp>
          <p:nvSpPr>
            <p:cNvPr id="82" name="Shape 20">
              <a:extLst>
                <a:ext uri="{FF2B5EF4-FFF2-40B4-BE49-F238E27FC236}">
                  <a16:creationId xmlns:a16="http://schemas.microsoft.com/office/drawing/2014/main" id="{70A7C4E2-6BB7-384A-4D64-1DFBB282E5A2}"/>
                </a:ext>
              </a:extLst>
            </p:cNvPr>
            <p:cNvSpPr/>
            <p:nvPr/>
          </p:nvSpPr>
          <p:spPr>
            <a:xfrm>
              <a:off x="1708116" y="2572295"/>
              <a:ext cx="1875344" cy="45719"/>
            </a:xfrm>
            <a:prstGeom prst="rect">
              <a:avLst/>
            </a:prstGeom>
            <a:solidFill>
              <a:srgbClr val="D1C9B8"/>
            </a:solidFill>
            <a:ln w="12700">
              <a:solidFill>
                <a:srgbClr val="D1C9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DD9584D-2AB4-1C41-19B8-C8EC247A3A3D}"/>
                </a:ext>
              </a:extLst>
            </p:cNvPr>
            <p:cNvGrpSpPr/>
            <p:nvPr/>
          </p:nvGrpSpPr>
          <p:grpSpPr>
            <a:xfrm>
              <a:off x="3632886" y="323102"/>
              <a:ext cx="4300446" cy="1093624"/>
              <a:chOff x="3632886" y="323102"/>
              <a:chExt cx="4300446" cy="1093624"/>
            </a:xfrm>
          </p:grpSpPr>
          <p:sp>
            <p:nvSpPr>
              <p:cNvPr id="78" name="Bevel 77">
                <a:extLst>
                  <a:ext uri="{FF2B5EF4-FFF2-40B4-BE49-F238E27FC236}">
                    <a16:creationId xmlns:a16="http://schemas.microsoft.com/office/drawing/2014/main" id="{5D0FD3E5-3B15-CC90-B758-B58F5D1AFC86}"/>
                  </a:ext>
                </a:extLst>
              </p:cNvPr>
              <p:cNvSpPr/>
              <p:nvPr/>
            </p:nvSpPr>
            <p:spPr>
              <a:xfrm>
                <a:off x="6627173" y="651331"/>
                <a:ext cx="1169942" cy="581622"/>
              </a:xfrm>
              <a:prstGeom prst="bevel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b="1" dirty="0">
                    <a:solidFill>
                      <a:schemeClr val="tx1"/>
                    </a:solidFill>
                  </a:rPr>
                  <a:t>Dave Pistacchio</a:t>
                </a:r>
              </a:p>
              <a:p>
                <a:pPr algn="ctr"/>
                <a:endParaRPr 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Bevel 78">
                <a:extLst>
                  <a:ext uri="{FF2B5EF4-FFF2-40B4-BE49-F238E27FC236}">
                    <a16:creationId xmlns:a16="http://schemas.microsoft.com/office/drawing/2014/main" id="{5B488238-1C97-EB65-E02D-AD976664CFF2}"/>
                  </a:ext>
                </a:extLst>
              </p:cNvPr>
              <p:cNvSpPr/>
              <p:nvPr/>
            </p:nvSpPr>
            <p:spPr>
              <a:xfrm>
                <a:off x="4009262" y="660789"/>
                <a:ext cx="1169942" cy="581622"/>
              </a:xfrm>
              <a:prstGeom prst="bevel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b="1" dirty="0">
                    <a:solidFill>
                      <a:schemeClr val="tx1"/>
                    </a:solidFill>
                  </a:rPr>
                  <a:t>J.P. Rosato</a:t>
                </a:r>
              </a:p>
              <a:p>
                <a:pPr algn="ctr"/>
                <a:endParaRPr 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90A8BA47-4317-6693-5DCE-68B6AAC00EFB}"/>
                  </a:ext>
                </a:extLst>
              </p:cNvPr>
              <p:cNvSpPr/>
              <p:nvPr/>
            </p:nvSpPr>
            <p:spPr>
              <a:xfrm>
                <a:off x="3632886" y="352080"/>
                <a:ext cx="4300446" cy="1064646"/>
              </a:xfrm>
              <a:prstGeom prst="rect">
                <a:avLst/>
              </a:prstGeom>
              <a:noFill/>
              <a:ln w="254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81" name="TextBox 13">
                <a:extLst>
                  <a:ext uri="{FF2B5EF4-FFF2-40B4-BE49-F238E27FC236}">
                    <a16:creationId xmlns:a16="http://schemas.microsoft.com/office/drawing/2014/main" id="{65CF36E6-AD7B-C4EB-5C32-77B54F7C7DAB}"/>
                  </a:ext>
                </a:extLst>
              </p:cNvPr>
              <p:cNvSpPr txBox="1"/>
              <p:nvPr/>
            </p:nvSpPr>
            <p:spPr>
              <a:xfrm>
                <a:off x="5006677" y="323102"/>
                <a:ext cx="2077016" cy="360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/>
                  <a:t>Office of the CEO</a:t>
                </a:r>
              </a:p>
            </p:txBody>
          </p:sp>
          <p:sp>
            <p:nvSpPr>
              <p:cNvPr id="85" name="Bevel 84">
                <a:extLst>
                  <a:ext uri="{FF2B5EF4-FFF2-40B4-BE49-F238E27FC236}">
                    <a16:creationId xmlns:a16="http://schemas.microsoft.com/office/drawing/2014/main" id="{3EE3AB5A-6AA2-9493-52B5-4F242691B674}"/>
                  </a:ext>
                </a:extLst>
              </p:cNvPr>
              <p:cNvSpPr/>
              <p:nvPr/>
            </p:nvSpPr>
            <p:spPr>
              <a:xfrm>
                <a:off x="5323197" y="652552"/>
                <a:ext cx="1169942" cy="581622"/>
              </a:xfrm>
              <a:prstGeom prst="bevel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b="1" dirty="0">
                    <a:solidFill>
                      <a:schemeClr val="tx1"/>
                    </a:solidFill>
                  </a:rPr>
                  <a:t>Ian Rae</a:t>
                </a:r>
              </a:p>
              <a:p>
                <a:pPr algn="ctr"/>
                <a:endParaRPr lang="en-US" sz="8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D691C012-3F9F-45BF-9987-9B5D8C87CDDB}"/>
                </a:ext>
              </a:extLst>
            </p:cNvPr>
            <p:cNvCxnSpPr>
              <a:cxnSpLocks/>
              <a:stCxn id="77" idx="0"/>
              <a:endCxn id="80" idx="2"/>
            </p:cNvCxnSpPr>
            <p:nvPr/>
          </p:nvCxnSpPr>
          <p:spPr>
            <a:xfrm rot="5400000" flipH="1" flipV="1">
              <a:off x="3840301" y="301579"/>
              <a:ext cx="827661" cy="30579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F1AA97B8-39A6-F413-3EB3-D18008300D6F}"/>
                </a:ext>
              </a:extLst>
            </p:cNvPr>
            <p:cNvCxnSpPr>
              <a:stCxn id="11" idx="0"/>
              <a:endCxn id="80" idx="2"/>
            </p:cNvCxnSpPr>
            <p:nvPr/>
          </p:nvCxnSpPr>
          <p:spPr>
            <a:xfrm rot="16200000" flipV="1">
              <a:off x="6998955" y="200880"/>
              <a:ext cx="824164" cy="325585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Elbow Connector 91">
              <a:extLst>
                <a:ext uri="{FF2B5EF4-FFF2-40B4-BE49-F238E27FC236}">
                  <a16:creationId xmlns:a16="http://schemas.microsoft.com/office/drawing/2014/main" id="{641A9CD5-D197-252A-33C7-3833FB808466}"/>
                </a:ext>
              </a:extLst>
            </p:cNvPr>
            <p:cNvCxnSpPr>
              <a:cxnSpLocks/>
              <a:stCxn id="76" idx="0"/>
              <a:endCxn id="80" idx="2"/>
            </p:cNvCxnSpPr>
            <p:nvPr/>
          </p:nvCxnSpPr>
          <p:spPr>
            <a:xfrm rot="5400000" flipH="1" flipV="1">
              <a:off x="5372293" y="1827392"/>
              <a:ext cx="821481" cy="151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0F98574-3C38-9599-C905-2B2A6234A692}"/>
                </a:ext>
              </a:extLst>
            </p:cNvPr>
            <p:cNvGrpSpPr/>
            <p:nvPr/>
          </p:nvGrpSpPr>
          <p:grpSpPr>
            <a:xfrm>
              <a:off x="2947495" y="5110620"/>
              <a:ext cx="5751579" cy="1048842"/>
              <a:chOff x="3169917" y="4591642"/>
              <a:chExt cx="5751579" cy="1048842"/>
            </a:xfrm>
          </p:grpSpPr>
          <p:sp>
            <p:nvSpPr>
              <p:cNvPr id="95" name="Shape 54">
                <a:extLst>
                  <a:ext uri="{FF2B5EF4-FFF2-40B4-BE49-F238E27FC236}">
                    <a16:creationId xmlns:a16="http://schemas.microsoft.com/office/drawing/2014/main" id="{4A267A02-2C9D-EFF8-F917-D0469B76861B}"/>
                  </a:ext>
                </a:extLst>
              </p:cNvPr>
              <p:cNvSpPr/>
              <p:nvPr/>
            </p:nvSpPr>
            <p:spPr>
              <a:xfrm>
                <a:off x="6004560" y="4591642"/>
                <a:ext cx="0" cy="109728"/>
              </a:xfrm>
              <a:prstGeom prst="line">
                <a:avLst/>
              </a:prstGeom>
              <a:noFill/>
              <a:ln w="9525">
                <a:solidFill>
                  <a:srgbClr val="94A8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Shape 55">
                <a:extLst>
                  <a:ext uri="{FF2B5EF4-FFF2-40B4-BE49-F238E27FC236}">
                    <a16:creationId xmlns:a16="http://schemas.microsoft.com/office/drawing/2014/main" id="{5400DD78-8F64-53DD-9A59-A747A22FF374}"/>
                  </a:ext>
                </a:extLst>
              </p:cNvPr>
              <p:cNvSpPr/>
              <p:nvPr/>
            </p:nvSpPr>
            <p:spPr>
              <a:xfrm>
                <a:off x="3169917" y="4726084"/>
                <a:ext cx="5669280" cy="914400"/>
              </a:xfrm>
              <a:prstGeom prst="rect">
                <a:avLst/>
              </a:prstGeom>
              <a:solidFill>
                <a:srgbClr val="EEF4FB"/>
              </a:solidFill>
              <a:ln w="12700">
                <a:solidFill>
                  <a:srgbClr val="2B5F8A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US" sz="3600"/>
              </a:p>
            </p:txBody>
          </p:sp>
          <p:sp>
            <p:nvSpPr>
              <p:cNvPr id="97" name="Shape 56">
                <a:extLst>
                  <a:ext uri="{FF2B5EF4-FFF2-40B4-BE49-F238E27FC236}">
                    <a16:creationId xmlns:a16="http://schemas.microsoft.com/office/drawing/2014/main" id="{A8856AB8-5E81-758E-F59F-0DBA570E68C3}"/>
                  </a:ext>
                </a:extLst>
              </p:cNvPr>
              <p:cNvSpPr/>
              <p:nvPr/>
            </p:nvSpPr>
            <p:spPr>
              <a:xfrm>
                <a:off x="3334512" y="4843102"/>
                <a:ext cx="73152" cy="73152"/>
              </a:xfrm>
              <a:prstGeom prst="ellipse">
                <a:avLst/>
              </a:prstGeom>
              <a:solidFill>
                <a:srgbClr val="B8922A"/>
              </a:solidFill>
              <a:ln w="12700">
                <a:solidFill>
                  <a:srgbClr val="B8922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 57">
                <a:extLst>
                  <a:ext uri="{FF2B5EF4-FFF2-40B4-BE49-F238E27FC236}">
                    <a16:creationId xmlns:a16="http://schemas.microsoft.com/office/drawing/2014/main" id="{863FA2DC-52D3-CA56-18E6-15EA7C044A71}"/>
                  </a:ext>
                </a:extLst>
              </p:cNvPr>
              <p:cNvSpPr/>
              <p:nvPr/>
            </p:nvSpPr>
            <p:spPr>
              <a:xfrm>
                <a:off x="3453384" y="4792810"/>
                <a:ext cx="168859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D23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Recurring Revenue Growth</a:t>
                </a:r>
                <a:endParaRPr lang="en-US" sz="1100" dirty="0"/>
              </a:p>
            </p:txBody>
          </p:sp>
          <p:sp>
            <p:nvSpPr>
              <p:cNvPr id="99" name="Shape 58">
                <a:extLst>
                  <a:ext uri="{FF2B5EF4-FFF2-40B4-BE49-F238E27FC236}">
                    <a16:creationId xmlns:a16="http://schemas.microsoft.com/office/drawing/2014/main" id="{DBAFCFC6-E965-E53D-F4F5-7817E088EF0C}"/>
                  </a:ext>
                </a:extLst>
              </p:cNvPr>
              <p:cNvSpPr/>
              <p:nvPr/>
            </p:nvSpPr>
            <p:spPr>
              <a:xfrm>
                <a:off x="5224272" y="4843102"/>
                <a:ext cx="73152" cy="73152"/>
              </a:xfrm>
              <a:prstGeom prst="ellipse">
                <a:avLst/>
              </a:prstGeom>
              <a:solidFill>
                <a:srgbClr val="B8922A"/>
              </a:solidFill>
              <a:ln w="12700">
                <a:solidFill>
                  <a:srgbClr val="B8922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Text 59">
                <a:extLst>
                  <a:ext uri="{FF2B5EF4-FFF2-40B4-BE49-F238E27FC236}">
                    <a16:creationId xmlns:a16="http://schemas.microsoft.com/office/drawing/2014/main" id="{04FA117C-AAA3-74F2-F5B4-FB44F4E20F7B}"/>
                  </a:ext>
                </a:extLst>
              </p:cNvPr>
              <p:cNvSpPr/>
              <p:nvPr/>
            </p:nvSpPr>
            <p:spPr>
              <a:xfrm>
                <a:off x="5343144" y="4792810"/>
                <a:ext cx="168859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D23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Gross Margin Stability</a:t>
                </a:r>
                <a:endParaRPr lang="en-US" sz="1100" dirty="0"/>
              </a:p>
            </p:txBody>
          </p:sp>
          <p:sp>
            <p:nvSpPr>
              <p:cNvPr id="101" name="Shape 60">
                <a:extLst>
                  <a:ext uri="{FF2B5EF4-FFF2-40B4-BE49-F238E27FC236}">
                    <a16:creationId xmlns:a16="http://schemas.microsoft.com/office/drawing/2014/main" id="{FF3FC7B7-82DF-7778-EC63-9895F5D44CC1}"/>
                  </a:ext>
                </a:extLst>
              </p:cNvPr>
              <p:cNvSpPr/>
              <p:nvPr/>
            </p:nvSpPr>
            <p:spPr>
              <a:xfrm>
                <a:off x="7114032" y="4843102"/>
                <a:ext cx="73152" cy="73152"/>
              </a:xfrm>
              <a:prstGeom prst="ellipse">
                <a:avLst/>
              </a:prstGeom>
              <a:solidFill>
                <a:srgbClr val="B8922A"/>
              </a:solidFill>
              <a:ln w="12700">
                <a:solidFill>
                  <a:srgbClr val="B8922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Text 61">
                <a:extLst>
                  <a:ext uri="{FF2B5EF4-FFF2-40B4-BE49-F238E27FC236}">
                    <a16:creationId xmlns:a16="http://schemas.microsoft.com/office/drawing/2014/main" id="{AFB79304-DF9A-0213-F70C-B83E705B0242}"/>
                  </a:ext>
                </a:extLst>
              </p:cNvPr>
              <p:cNvSpPr/>
              <p:nvPr/>
            </p:nvSpPr>
            <p:spPr>
              <a:xfrm>
                <a:off x="7232904" y="4792810"/>
                <a:ext cx="168859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D23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EBITDA Expansion</a:t>
                </a:r>
                <a:endParaRPr lang="en-US" sz="1100" dirty="0"/>
              </a:p>
            </p:txBody>
          </p:sp>
          <p:sp>
            <p:nvSpPr>
              <p:cNvPr id="103" name="Shape 62">
                <a:extLst>
                  <a:ext uri="{FF2B5EF4-FFF2-40B4-BE49-F238E27FC236}">
                    <a16:creationId xmlns:a16="http://schemas.microsoft.com/office/drawing/2014/main" id="{5F4E0980-2426-BC7E-38F6-3900423D49D3}"/>
                  </a:ext>
                </a:extLst>
              </p:cNvPr>
              <p:cNvSpPr/>
              <p:nvPr/>
            </p:nvSpPr>
            <p:spPr>
              <a:xfrm>
                <a:off x="3334512" y="5208862"/>
                <a:ext cx="73152" cy="73152"/>
              </a:xfrm>
              <a:prstGeom prst="ellipse">
                <a:avLst/>
              </a:prstGeom>
              <a:solidFill>
                <a:srgbClr val="B8922A"/>
              </a:solidFill>
              <a:ln w="12700">
                <a:solidFill>
                  <a:srgbClr val="B8922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Text 63">
                <a:extLst>
                  <a:ext uri="{FF2B5EF4-FFF2-40B4-BE49-F238E27FC236}">
                    <a16:creationId xmlns:a16="http://schemas.microsoft.com/office/drawing/2014/main" id="{C37C7C9E-23F1-F165-C829-AB3930415D17}"/>
                  </a:ext>
                </a:extLst>
              </p:cNvPr>
              <p:cNvSpPr/>
              <p:nvPr/>
            </p:nvSpPr>
            <p:spPr>
              <a:xfrm>
                <a:off x="3453384" y="5158570"/>
                <a:ext cx="168859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D23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Net Revenue Retention</a:t>
                </a:r>
                <a:endParaRPr lang="en-US" sz="1100" dirty="0"/>
              </a:p>
            </p:txBody>
          </p:sp>
          <p:sp>
            <p:nvSpPr>
              <p:cNvPr id="105" name="Shape 64">
                <a:extLst>
                  <a:ext uri="{FF2B5EF4-FFF2-40B4-BE49-F238E27FC236}">
                    <a16:creationId xmlns:a16="http://schemas.microsoft.com/office/drawing/2014/main" id="{B70DA4E4-7690-CD61-7492-AF40608607E3}"/>
                  </a:ext>
                </a:extLst>
              </p:cNvPr>
              <p:cNvSpPr/>
              <p:nvPr/>
            </p:nvSpPr>
            <p:spPr>
              <a:xfrm>
                <a:off x="5224272" y="5208862"/>
                <a:ext cx="73152" cy="73152"/>
              </a:xfrm>
              <a:prstGeom prst="ellipse">
                <a:avLst/>
              </a:prstGeom>
              <a:solidFill>
                <a:srgbClr val="B8922A"/>
              </a:solidFill>
              <a:ln w="12700">
                <a:solidFill>
                  <a:srgbClr val="B8922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Text 65">
                <a:extLst>
                  <a:ext uri="{FF2B5EF4-FFF2-40B4-BE49-F238E27FC236}">
                    <a16:creationId xmlns:a16="http://schemas.microsoft.com/office/drawing/2014/main" id="{DFABB4AE-09B9-E76A-6958-D23AA896B9FD}"/>
                  </a:ext>
                </a:extLst>
              </p:cNvPr>
              <p:cNvSpPr/>
              <p:nvPr/>
            </p:nvSpPr>
            <p:spPr>
              <a:xfrm>
                <a:off x="5343144" y="5158570"/>
                <a:ext cx="168859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D23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Forecast Predictability</a:t>
                </a:r>
                <a:endParaRPr lang="en-US" sz="1100" dirty="0"/>
              </a:p>
            </p:txBody>
          </p:sp>
          <p:sp>
            <p:nvSpPr>
              <p:cNvPr id="107" name="Shape 66">
                <a:extLst>
                  <a:ext uri="{FF2B5EF4-FFF2-40B4-BE49-F238E27FC236}">
                    <a16:creationId xmlns:a16="http://schemas.microsoft.com/office/drawing/2014/main" id="{98541566-F293-BCCA-8714-EF0F8B598365}"/>
                  </a:ext>
                </a:extLst>
              </p:cNvPr>
              <p:cNvSpPr/>
              <p:nvPr/>
            </p:nvSpPr>
            <p:spPr>
              <a:xfrm>
                <a:off x="7114032" y="5208862"/>
                <a:ext cx="73152" cy="73152"/>
              </a:xfrm>
              <a:prstGeom prst="ellipse">
                <a:avLst/>
              </a:prstGeom>
              <a:solidFill>
                <a:srgbClr val="B8922A"/>
              </a:solidFill>
              <a:ln w="12700">
                <a:solidFill>
                  <a:srgbClr val="B8922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Text 67">
                <a:extLst>
                  <a:ext uri="{FF2B5EF4-FFF2-40B4-BE49-F238E27FC236}">
                    <a16:creationId xmlns:a16="http://schemas.microsoft.com/office/drawing/2014/main" id="{5AB1D8AB-7B54-B204-BBA8-585C28A100B8}"/>
                  </a:ext>
                </a:extLst>
              </p:cNvPr>
              <p:cNvSpPr/>
              <p:nvPr/>
            </p:nvSpPr>
            <p:spPr>
              <a:xfrm>
                <a:off x="7232904" y="5158570"/>
                <a:ext cx="168859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D234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Valuation Multiple Expansion</a:t>
                </a:r>
                <a:endParaRPr lang="en-US" sz="1100" dirty="0"/>
              </a:p>
            </p:txBody>
          </p:sp>
        </p:grpSp>
        <p:cxnSp>
          <p:nvCxnSpPr>
            <p:cNvPr id="110" name="Elbow Connector 109">
              <a:extLst>
                <a:ext uri="{FF2B5EF4-FFF2-40B4-BE49-F238E27FC236}">
                  <a16:creationId xmlns:a16="http://schemas.microsoft.com/office/drawing/2014/main" id="{73D3E3CF-AA5D-A017-C822-35BA3183930F}"/>
                </a:ext>
              </a:extLst>
            </p:cNvPr>
            <p:cNvCxnSpPr>
              <a:cxnSpLocks/>
              <a:stCxn id="77" idx="2"/>
              <a:endCxn id="96" idx="0"/>
            </p:cNvCxnSpPr>
            <p:nvPr/>
          </p:nvCxnSpPr>
          <p:spPr>
            <a:xfrm rot="16200000" flipH="1">
              <a:off x="3917110" y="3380036"/>
              <a:ext cx="673067" cy="3056982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Elbow Connector 114">
              <a:extLst>
                <a:ext uri="{FF2B5EF4-FFF2-40B4-BE49-F238E27FC236}">
                  <a16:creationId xmlns:a16="http://schemas.microsoft.com/office/drawing/2014/main" id="{674F5B52-00F8-0FD4-1843-F761CBBA2194}"/>
                </a:ext>
              </a:extLst>
            </p:cNvPr>
            <p:cNvCxnSpPr>
              <a:cxnSpLocks/>
              <a:stCxn id="96" idx="0"/>
              <a:endCxn id="76" idx="2"/>
            </p:cNvCxnSpPr>
            <p:nvPr/>
          </p:nvCxnSpPr>
          <p:spPr>
            <a:xfrm rot="5400000" flipH="1" flipV="1">
              <a:off x="5449101" y="4911206"/>
              <a:ext cx="666890" cy="823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Elbow Connector 117">
              <a:extLst>
                <a:ext uri="{FF2B5EF4-FFF2-40B4-BE49-F238E27FC236}">
                  <a16:creationId xmlns:a16="http://schemas.microsoft.com/office/drawing/2014/main" id="{B685A61F-779F-E76E-0D9F-B8851D149823}"/>
                </a:ext>
              </a:extLst>
            </p:cNvPr>
            <p:cNvCxnSpPr>
              <a:stCxn id="11" idx="2"/>
              <a:endCxn id="96" idx="0"/>
            </p:cNvCxnSpPr>
            <p:nvPr/>
          </p:nvCxnSpPr>
          <p:spPr>
            <a:xfrm rot="5400000">
              <a:off x="7075763" y="3281861"/>
              <a:ext cx="669574" cy="3256829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Alternate Process 120">
              <a:extLst>
                <a:ext uri="{FF2B5EF4-FFF2-40B4-BE49-F238E27FC236}">
                  <a16:creationId xmlns:a16="http://schemas.microsoft.com/office/drawing/2014/main" id="{65DC811D-8D66-C793-FEDF-DFFD4BB2A4DB}"/>
                </a:ext>
              </a:extLst>
            </p:cNvPr>
            <p:cNvSpPr/>
            <p:nvPr/>
          </p:nvSpPr>
          <p:spPr>
            <a:xfrm>
              <a:off x="4102443" y="6141308"/>
              <a:ext cx="3200400" cy="296562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Shared Enterprise Outcomes</a:t>
              </a:r>
            </a:p>
          </p:txBody>
        </p:sp>
        <p:sp>
          <p:nvSpPr>
            <p:cNvPr id="122" name="Shape 20">
              <a:extLst>
                <a:ext uri="{FF2B5EF4-FFF2-40B4-BE49-F238E27FC236}">
                  <a16:creationId xmlns:a16="http://schemas.microsoft.com/office/drawing/2014/main" id="{FAB1755E-BD63-8353-B8DE-30B5ABF9FCCE}"/>
                </a:ext>
              </a:extLst>
            </p:cNvPr>
            <p:cNvSpPr/>
            <p:nvPr/>
          </p:nvSpPr>
          <p:spPr>
            <a:xfrm>
              <a:off x="4863208" y="2576413"/>
              <a:ext cx="1875344" cy="45719"/>
            </a:xfrm>
            <a:prstGeom prst="rect">
              <a:avLst/>
            </a:prstGeom>
            <a:solidFill>
              <a:srgbClr val="D1C9B8"/>
            </a:solidFill>
            <a:ln w="12700">
              <a:solidFill>
                <a:srgbClr val="D1C9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Shape 20">
              <a:extLst>
                <a:ext uri="{FF2B5EF4-FFF2-40B4-BE49-F238E27FC236}">
                  <a16:creationId xmlns:a16="http://schemas.microsoft.com/office/drawing/2014/main" id="{48EAAEBF-1663-7F11-5C8F-DEE86C970D60}"/>
                </a:ext>
              </a:extLst>
            </p:cNvPr>
            <p:cNvSpPr/>
            <p:nvPr/>
          </p:nvSpPr>
          <p:spPr>
            <a:xfrm>
              <a:off x="8075965" y="2601127"/>
              <a:ext cx="1875344" cy="45719"/>
            </a:xfrm>
            <a:prstGeom prst="rect">
              <a:avLst/>
            </a:prstGeom>
            <a:solidFill>
              <a:srgbClr val="D1C9B8"/>
            </a:solidFill>
            <a:ln w="12700">
              <a:solidFill>
                <a:srgbClr val="D1C9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8" name="Title 127">
            <a:extLst>
              <a:ext uri="{FF2B5EF4-FFF2-40B4-BE49-F238E27FC236}">
                <a16:creationId xmlns:a16="http://schemas.microsoft.com/office/drawing/2014/main" id="{7EC85D03-B8F0-BDE6-7DB4-89F26ED4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570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ENTERPRISE OPERATING MODEL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8C0E083-A588-BB3B-D4E0-89BC146FFB04}"/>
              </a:ext>
            </a:extLst>
          </p:cNvPr>
          <p:cNvGrpSpPr/>
          <p:nvPr/>
        </p:nvGrpSpPr>
        <p:grpSpPr>
          <a:xfrm>
            <a:off x="1590805" y="1127343"/>
            <a:ext cx="9206632" cy="2217106"/>
            <a:chOff x="580768" y="1334530"/>
            <a:chExt cx="10268464" cy="1841156"/>
          </a:xfrm>
        </p:grpSpPr>
        <p:sp>
          <p:nvSpPr>
            <p:cNvPr id="10" name="Title 127">
              <a:extLst>
                <a:ext uri="{FF2B5EF4-FFF2-40B4-BE49-F238E27FC236}">
                  <a16:creationId xmlns:a16="http://schemas.microsoft.com/office/drawing/2014/main" id="{3FA39053-ACC4-BFF4-74C0-9391259D7AF8}"/>
                </a:ext>
              </a:extLst>
            </p:cNvPr>
            <p:cNvSpPr txBox="1">
              <a:spLocks/>
            </p:cNvSpPr>
            <p:nvPr/>
          </p:nvSpPr>
          <p:spPr>
            <a:xfrm>
              <a:off x="7852791" y="1495401"/>
              <a:ext cx="2832024" cy="42570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400" b="1" dirty="0"/>
                <a:t>EXECUTIVE LEADERSHIP TEAM  (ELT)</a:t>
              </a:r>
            </a:p>
          </p:txBody>
        </p:sp>
        <p:sp>
          <p:nvSpPr>
            <p:cNvPr id="12" name="Alternate Process 11">
              <a:extLst>
                <a:ext uri="{FF2B5EF4-FFF2-40B4-BE49-F238E27FC236}">
                  <a16:creationId xmlns:a16="http://schemas.microsoft.com/office/drawing/2014/main" id="{2CB3BFF3-F00F-815A-C5EF-614036635FB6}"/>
                </a:ext>
              </a:extLst>
            </p:cNvPr>
            <p:cNvSpPr/>
            <p:nvPr/>
          </p:nvSpPr>
          <p:spPr>
            <a:xfrm>
              <a:off x="580768" y="1334530"/>
              <a:ext cx="10268464" cy="1841156"/>
            </a:xfrm>
            <a:prstGeom prst="flowChartAlternateProcess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9550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DFB8-0059-CB53-EC43-0847F67CB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8258-E50B-EB78-4661-53F0E50C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44" y="388877"/>
            <a:ext cx="10515600" cy="66802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prstClr val="black"/>
                </a:solidFill>
                <a:latin typeface="Times-Bold"/>
              </a:rPr>
              <a:t>Executive Team Objectives &amp; Responsibilities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349F52-CD8F-F1FC-6EB6-C8DEF36A9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175573"/>
              </p:ext>
            </p:extLst>
          </p:nvPr>
        </p:nvGraphicFramePr>
        <p:xfrm>
          <a:off x="848774" y="1173296"/>
          <a:ext cx="10412125" cy="5255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440">
                  <a:extLst>
                    <a:ext uri="{9D8B030D-6E8A-4147-A177-3AD203B41FA5}">
                      <a16:colId xmlns:a16="http://schemas.microsoft.com/office/drawing/2014/main" val="3257746273"/>
                    </a:ext>
                  </a:extLst>
                </a:gridCol>
                <a:gridCol w="3032486">
                  <a:extLst>
                    <a:ext uri="{9D8B030D-6E8A-4147-A177-3AD203B41FA5}">
                      <a16:colId xmlns:a16="http://schemas.microsoft.com/office/drawing/2014/main" val="644273646"/>
                    </a:ext>
                  </a:extLst>
                </a:gridCol>
                <a:gridCol w="5345199">
                  <a:extLst>
                    <a:ext uri="{9D8B030D-6E8A-4147-A177-3AD203B41FA5}">
                      <a16:colId xmlns:a16="http://schemas.microsoft.com/office/drawing/2014/main" val="1633665383"/>
                    </a:ext>
                  </a:extLst>
                </a:gridCol>
              </a:tblGrid>
              <a:tr h="40945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-Bold"/>
                        </a:rPr>
                        <a:t>Company Role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-Bold"/>
                        </a:rPr>
                        <a:t>Primary Objective	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-Bold"/>
                        </a:rPr>
                        <a:t>Key Responsibilities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78220"/>
                  </a:ext>
                </a:extLst>
              </a:tr>
              <a:tr h="1110568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-Bold"/>
                        </a:rPr>
                        <a:t>OFFICE OF THE CEO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-Bold"/>
                        </a:rPr>
                        <a:t>Maximize Enterprise Value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Times-Roman"/>
                        </a:rPr>
                        <a:t>Define strategy and investment priorities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Times-Roman"/>
                        </a:rPr>
                        <a:t>Align executive team around growth, margin, and scalability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Times-Roman"/>
                        </a:rPr>
                        <a:t>Lead board and investor engagement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Times-Roman"/>
                        </a:rPr>
                        <a:t>Allocate capital and evaluate M&amp;A opportunities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prstClr val="black"/>
                          </a:solidFill>
                          <a:latin typeface="Times-Roman"/>
                        </a:rPr>
                        <a:t>Ensure the company remains positioned for a successful exit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96489"/>
                  </a:ext>
                </a:extLst>
              </a:tr>
              <a:tr h="1110568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-Bold"/>
                        </a:rPr>
                        <a:t>CFO</a:t>
                      </a:r>
                      <a:r>
                        <a:rPr lang="en-US" sz="1600" b="0" dirty="0">
                          <a:solidFill>
                            <a:prstClr val="black"/>
                          </a:solidFill>
                          <a:latin typeface="Times-Roman"/>
                        </a:rPr>
                        <a:t>	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-Bold"/>
                        </a:rPr>
                        <a:t>Protect EBITDA &amp; Financial Discipline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Own financial planning, forecasting, and reporting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Maintain margin guardrails and pricing discipline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Improve cash flow and working capital efficiency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Ensure financial transparency and clean diligence readiness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Convert revenue growth into predictable profitability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09492"/>
                  </a:ext>
                </a:extLst>
              </a:tr>
              <a:tr h="1110568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-Bold"/>
                        </a:rPr>
                        <a:t>SVP Global Sales &amp; Marketing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-Bold"/>
                        </a:rPr>
                        <a:t>Drive Predictable Revenue Growth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Grow Annual Recurring Revenue (ARR)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Build disciplined pipeline and forecasting processes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Increase Net Revenue Retention (NRR) and strategic account growth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Maintain pricing discipline within margin guardrails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Professionalize sales infrastructure and pipeline governance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09083"/>
                  </a:ext>
                </a:extLst>
              </a:tr>
              <a:tr h="1110568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-Bold"/>
                        </a:rPr>
                        <a:t>VP Operations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-Bold"/>
                        </a:rPr>
                        <a:t>Deliver Scalable Service Execution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Ensure reliable service delivery and SLA performance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Improve gross margin through operational efficiency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Standardize service offerings and onboarding processes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Align capacity planning with sales pipeline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Reduce operational complexity and improve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333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5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8B853-EB85-3F4F-17CA-6E0E7FFC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C10B-165A-5A32-AA71-DA49A72CB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56" y="241557"/>
            <a:ext cx="10515600" cy="105991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Times-Bold"/>
              </a:rPr>
              <a:t>Shared Enterprise Metrics</a:t>
            </a:r>
            <a:br>
              <a:rPr lang="en-US" b="1" dirty="0">
                <a:solidFill>
                  <a:prstClr val="black"/>
                </a:solidFill>
                <a:latin typeface="Times-Bold"/>
              </a:rPr>
            </a:br>
            <a:r>
              <a:rPr lang="en-US" sz="2000" dirty="0">
                <a:solidFill>
                  <a:prstClr val="black"/>
                </a:solidFill>
                <a:latin typeface="Times-Roman"/>
              </a:rPr>
              <a:t>The Executive Team will share accountability for the company’s core value drivers &amp; metrics.</a:t>
            </a:r>
            <a:endParaRPr lang="en-US" sz="13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A0EDB3-F59D-161E-3898-961F8B5830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7346357"/>
              </p:ext>
            </p:extLst>
          </p:nvPr>
        </p:nvGraphicFramePr>
        <p:xfrm>
          <a:off x="794203" y="1474500"/>
          <a:ext cx="10224654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9776">
                  <a:extLst>
                    <a:ext uri="{9D8B030D-6E8A-4147-A177-3AD203B41FA5}">
                      <a16:colId xmlns:a16="http://schemas.microsoft.com/office/drawing/2014/main" val="3257746273"/>
                    </a:ext>
                  </a:extLst>
                </a:gridCol>
                <a:gridCol w="5754878">
                  <a:extLst>
                    <a:ext uri="{9D8B030D-6E8A-4147-A177-3AD203B41FA5}">
                      <a16:colId xmlns:a16="http://schemas.microsoft.com/office/drawing/2014/main" val="1633665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-Bold"/>
                        </a:rPr>
                        <a:t>METRIC CATEGORY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-Bold"/>
                        </a:rPr>
                        <a:t>SHARED METRICS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7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GROWTH &amp; REVENUE QUALITY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Recurring Revenue growth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Net Revenue Retention (NRR)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Pipeline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9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Gross margin stability by service line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EBITDA growth and margin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0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OPERATIONAL PERFORMANCE</a:t>
                      </a:r>
                    </a:p>
                    <a:p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Performance and service reliability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Revenue per employee / productivity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solidFill>
                          <a:prstClr val="black"/>
                        </a:solidFill>
                        <a:latin typeface="Times-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09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PREDICTABILITY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Forecast accuracy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Revenue and EBITDA consistency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333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CUSTOMER OUTCOMES</a:t>
                      </a:r>
                    </a:p>
                    <a:p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Customer retention / churn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Customer lifetime value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81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EXIT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Recurring revenue mix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Scalable operating model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prstClr val="black"/>
                          </a:solidFill>
                          <a:latin typeface="Times-Roman"/>
                        </a:rPr>
                        <a:t>Reduced key-person dependency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565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13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110BB-3D6A-6C62-07D5-4DB040CEE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5EFE-6486-722F-C774-FCB5BD20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Board Interaction</a:t>
            </a:r>
            <a:b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4749C-337A-D1A7-B33D-06A72A42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SzPts val="1000"/>
              <a:buNone/>
              <a:tabLst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Board communication must be data-driven, disciplined, and predictable, and the ELT will:</a:t>
            </a:r>
            <a:endParaRPr lang="en-US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 monthly and quarterly performance updates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pipeline transparency and forward-looking visibility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 on revenue quality metrics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 exit-readiness positioning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US" dirty="0">
              <a:solidFill>
                <a:srgbClr val="00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57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5E9C-F665-23D2-C14F-24539D23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have to get to.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8758F-B1D9-C77A-9E5F-EC4656AAA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8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CDDCE-8AB3-2946-301B-79E5E05DE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2B52-85D1-538B-9472-C0DD9CD9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802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prstClr val="black"/>
                </a:solidFill>
                <a:latin typeface="Times-Bold"/>
              </a:rPr>
              <a:t>Our “Exit” Criteria…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19D5C0-E48C-8067-E01D-D9FAE9D15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3433495"/>
              </p:ext>
            </p:extLst>
          </p:nvPr>
        </p:nvGraphicFramePr>
        <p:xfrm>
          <a:off x="1051955" y="1196233"/>
          <a:ext cx="9707090" cy="4744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7090">
                  <a:extLst>
                    <a:ext uri="{9D8B030D-6E8A-4147-A177-3AD203B41FA5}">
                      <a16:colId xmlns:a16="http://schemas.microsoft.com/office/drawing/2014/main" val="644273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78220"/>
                  </a:ext>
                </a:extLst>
              </a:tr>
              <a:tr h="724865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-Roman"/>
                          <a:ea typeface="+mn-ea"/>
                          <a:cs typeface="+mn-cs"/>
                        </a:rPr>
                        <a:t>Organic revenue growth of 10%  and two consecutive quarters of growth.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96489"/>
                  </a:ext>
                </a:extLst>
              </a:tr>
              <a:tr h="709280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-Roman"/>
                          <a:ea typeface="+mn-ea"/>
                          <a:cs typeface="+mn-cs"/>
                        </a:rPr>
                        <a:t>Net Retention of 100% - 106%+)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09492"/>
                  </a:ext>
                </a:extLst>
              </a:tr>
              <a:tr h="790267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Target of LTM EBITDA of $10MM+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09083"/>
                  </a:ext>
                </a:extLst>
              </a:tr>
              <a:tr h="741650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EBITDA margin of 25%  (Private Cloud and Hosting)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333859"/>
                  </a:ext>
                </a:extLst>
              </a:tr>
              <a:tr h="236391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Demonstrated ability to cross sell between cloud environments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381706"/>
                  </a:ext>
                </a:extLst>
              </a:tr>
              <a:tr h="593838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Demonstrable linkage between PS engagements and MRC (“land-and-expand” with customers)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853467"/>
                  </a:ext>
                </a:extLst>
              </a:tr>
            </a:tbl>
          </a:graphicData>
        </a:graphic>
      </p:graphicFrame>
      <p:sp>
        <p:nvSpPr>
          <p:cNvPr id="3" name="Down Arrow 2">
            <a:extLst>
              <a:ext uri="{FF2B5EF4-FFF2-40B4-BE49-F238E27FC236}">
                <a16:creationId xmlns:a16="http://schemas.microsoft.com/office/drawing/2014/main" id="{DFFACADE-E9E1-846C-B686-446004BB61B3}"/>
              </a:ext>
            </a:extLst>
          </p:cNvPr>
          <p:cNvSpPr/>
          <p:nvPr/>
        </p:nvSpPr>
        <p:spPr>
          <a:xfrm>
            <a:off x="5112648" y="6053848"/>
            <a:ext cx="991268" cy="5560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8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5A2CF-2FF9-DBEC-8D60-F78FE1F5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A309-CED6-726F-A90E-2D3A7FCD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44" y="388877"/>
            <a:ext cx="10515600" cy="66802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prstClr val="black"/>
                </a:solidFill>
                <a:latin typeface="Times-Bold"/>
              </a:rPr>
              <a:t>…Drive the strategies and tactics of our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26F98F-FE79-8785-8F69-C47693D2D7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521229"/>
              </p:ext>
            </p:extLst>
          </p:nvPr>
        </p:nvGraphicFramePr>
        <p:xfrm>
          <a:off x="506627" y="1136822"/>
          <a:ext cx="11232293" cy="5727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303">
                  <a:extLst>
                    <a:ext uri="{9D8B030D-6E8A-4147-A177-3AD203B41FA5}">
                      <a16:colId xmlns:a16="http://schemas.microsoft.com/office/drawing/2014/main" val="3257746273"/>
                    </a:ext>
                  </a:extLst>
                </a:gridCol>
                <a:gridCol w="4386648">
                  <a:extLst>
                    <a:ext uri="{9D8B030D-6E8A-4147-A177-3AD203B41FA5}">
                      <a16:colId xmlns:a16="http://schemas.microsoft.com/office/drawing/2014/main" val="644273646"/>
                    </a:ext>
                  </a:extLst>
                </a:gridCol>
                <a:gridCol w="5103342">
                  <a:extLst>
                    <a:ext uri="{9D8B030D-6E8A-4147-A177-3AD203B41FA5}">
                      <a16:colId xmlns:a16="http://schemas.microsoft.com/office/drawing/2014/main" val="1633665383"/>
                    </a:ext>
                  </a:extLst>
                </a:gridCol>
              </a:tblGrid>
              <a:tr h="6430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-Bold"/>
                        </a:rPr>
                        <a:t>Objective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Tactics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78220"/>
                  </a:ext>
                </a:extLst>
              </a:tr>
              <a:tr h="1592340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Organic revenue growth of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execution of Campaigns and sales initiatives.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Sales Rep and Channel Productivity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predictability of Sales forecasts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products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Eliminate marketplace confusion and increase unaided awareness.  </a:t>
                      </a:r>
                      <a:endParaRPr lang="en-US" sz="16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Maintain Disciplined execution of sales processes including pipeline and forecasting processes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Maintain pricing discipline within margin guardrails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disciplined use of sales tools and artifacts.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Coordinate with ELT to identify Product gaps and address.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Market messaging, Consolidate Web sites.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96489"/>
                  </a:ext>
                </a:extLst>
              </a:tr>
              <a:tr h="1224492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Net Retention of 100% - 106%+) (</a:t>
                      </a: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Retain and Grow our customer base)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noProof="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intelligence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customer intimacy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Increase customer loyalty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Align product offering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Use  AI to build intelligence about existing customers and prospects. 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Document methodology for customer engagement to restore intimacy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customer interactions at every contact point.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Build AI based predictive churn index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09492"/>
                  </a:ext>
                </a:extLst>
              </a:tr>
              <a:tr h="2021047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Target of LTM EBITDA of US $5MM+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Continue to shed unnecessary costs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COGS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operational efficiency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Automate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Align employee costs to billable revenue for Managed and Professional Services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Eliminate / Negotiate lower costs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Automate manual tasks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09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67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FDDD-7F6F-C636-B529-5323431FF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F8D4-799F-6DB0-7804-3F1E431A0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44" y="388877"/>
            <a:ext cx="10515600" cy="66802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prstClr val="black"/>
                </a:solidFill>
                <a:latin typeface="Times-Bold"/>
              </a:rPr>
              <a:t>…Drive the strategies and tactics of our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9E45D7-9E2F-9D96-1D17-453264545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261107"/>
              </p:ext>
            </p:extLst>
          </p:nvPr>
        </p:nvGraphicFramePr>
        <p:xfrm>
          <a:off x="516991" y="1288824"/>
          <a:ext cx="11232293" cy="5177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141">
                  <a:extLst>
                    <a:ext uri="{9D8B030D-6E8A-4147-A177-3AD203B41FA5}">
                      <a16:colId xmlns:a16="http://schemas.microsoft.com/office/drawing/2014/main" val="3257746273"/>
                    </a:ext>
                  </a:extLst>
                </a:gridCol>
                <a:gridCol w="3446450">
                  <a:extLst>
                    <a:ext uri="{9D8B030D-6E8A-4147-A177-3AD203B41FA5}">
                      <a16:colId xmlns:a16="http://schemas.microsoft.com/office/drawing/2014/main" val="644273646"/>
                    </a:ext>
                  </a:extLst>
                </a:gridCol>
                <a:gridCol w="5425702">
                  <a:extLst>
                    <a:ext uri="{9D8B030D-6E8A-4147-A177-3AD203B41FA5}">
                      <a16:colId xmlns:a16="http://schemas.microsoft.com/office/drawing/2014/main" val="1633665383"/>
                    </a:ext>
                  </a:extLst>
                </a:gridCol>
              </a:tblGrid>
              <a:tr h="6430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-Bold"/>
                        </a:rPr>
                        <a:t>Targets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Tactics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78220"/>
                  </a:ext>
                </a:extLst>
              </a:tr>
              <a:tr h="1460245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Deliver EBITDA margin of 25%  (Private Cloud and Hosting)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product economics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Improve service delivery and management efficiency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Ensure reliable service delivery and SLA performance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Standardize service offerings and onboarding processes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Reduce operational complexity and improve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333859"/>
                  </a:ext>
                </a:extLst>
              </a:tr>
              <a:tr h="1053380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Demonstrated ability to cross sell between cloud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Private Cloud and Hyperscale cloud.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Make it easy for customers to manage both environments using Cloud MC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544385"/>
                  </a:ext>
                </a:extLst>
              </a:tr>
              <a:tr h="2021047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Demonstrable linkage between PS engagements and MRC (“land-and-expand” with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Build sales motion that drive customer early engagement through NRR to re-occurring NRR to MRR.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ICP defined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ICE (ideal customer Engagement)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Campaign to push Packaged Assessments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Use systems to link NRR work to future NRR and MRR work.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Case study with </a:t>
                      </a:r>
                      <a:r>
                        <a:rPr lang="en-US" sz="1400" b="0" kern="1200" dirty="0" err="1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Canderel</a:t>
                      </a:r>
                      <a:r>
                        <a:rPr lang="en-US" sz="1400" b="0" kern="1200" dirty="0">
                          <a:solidFill>
                            <a:prstClr val="black"/>
                          </a:solidFill>
                          <a:latin typeface="Times-Roman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kern="1200" dirty="0">
                        <a:solidFill>
                          <a:prstClr val="black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938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808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96E0-9E1B-EE97-C838-6B666A3B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498"/>
            <a:ext cx="10515600" cy="537400"/>
          </a:xfrm>
        </p:spPr>
        <p:txBody>
          <a:bodyPr>
            <a:normAutofit fontScale="90000"/>
          </a:bodyPr>
          <a:lstStyle/>
          <a:p>
            <a:r>
              <a:rPr lang="en-US" dirty="0"/>
              <a:t>Defining and Using the Ideal Customer Profile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4E81F-F422-F674-CABC-D95F8C134662}"/>
              </a:ext>
            </a:extLst>
          </p:cNvPr>
          <p:cNvSpPr/>
          <p:nvPr/>
        </p:nvSpPr>
        <p:spPr>
          <a:xfrm>
            <a:off x="278410" y="2398815"/>
            <a:ext cx="1521362" cy="1128156"/>
          </a:xfrm>
          <a:prstGeom prst="rect">
            <a:avLst/>
          </a:prstGeom>
          <a:solidFill>
            <a:srgbClr val="7030A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Create Single ICP (Ideal Customer Profile)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36426-4153-D24E-C748-986207E7BCC5}"/>
              </a:ext>
            </a:extLst>
          </p:cNvPr>
          <p:cNvSpPr txBox="1"/>
          <p:nvPr/>
        </p:nvSpPr>
        <p:spPr>
          <a:xfrm>
            <a:off x="1001486" y="25835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CD19E0-3924-A4F7-62B9-E8A4AA572205}"/>
              </a:ext>
            </a:extLst>
          </p:cNvPr>
          <p:cNvSpPr/>
          <p:nvPr/>
        </p:nvSpPr>
        <p:spPr>
          <a:xfrm>
            <a:off x="5684982" y="5874986"/>
            <a:ext cx="4794331" cy="712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structure  helps drive the Investor Narrative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D6302B-C086-40D1-5590-FD79C0D8B8D1}"/>
              </a:ext>
            </a:extLst>
          </p:cNvPr>
          <p:cNvSpPr txBox="1"/>
          <p:nvPr/>
        </p:nvSpPr>
        <p:spPr>
          <a:xfrm>
            <a:off x="2322285" y="1320799"/>
            <a:ext cx="185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1. Define target Addressable Market (TAM)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31BFD8-8B9B-E82E-C148-1FDCCE47EFD1}"/>
              </a:ext>
            </a:extLst>
          </p:cNvPr>
          <p:cNvSpPr txBox="1"/>
          <p:nvPr/>
        </p:nvSpPr>
        <p:spPr>
          <a:xfrm>
            <a:off x="2307771" y="1966686"/>
            <a:ext cx="1888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2. Define  Customer Segmentation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A45CF8-91BB-5E14-6E8A-592C346606B4}"/>
              </a:ext>
            </a:extLst>
          </p:cNvPr>
          <p:cNvSpPr txBox="1"/>
          <p:nvPr/>
        </p:nvSpPr>
        <p:spPr>
          <a:xfrm>
            <a:off x="2322285" y="2728685"/>
            <a:ext cx="1888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3. Identify Targets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4782F0-B68A-F2A7-E165-A0CF2950FB3E}"/>
              </a:ext>
            </a:extLst>
          </p:cNvPr>
          <p:cNvSpPr txBox="1"/>
          <p:nvPr/>
        </p:nvSpPr>
        <p:spPr>
          <a:xfrm>
            <a:off x="2278742" y="3367314"/>
            <a:ext cx="1888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4. Define  ICE (Ideal Customer Engagement)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418578-4285-33AE-9BE1-F52CB1274C3D}"/>
              </a:ext>
            </a:extLst>
          </p:cNvPr>
          <p:cNvSpPr txBox="1"/>
          <p:nvPr/>
        </p:nvSpPr>
        <p:spPr>
          <a:xfrm>
            <a:off x="2336799" y="4230913"/>
            <a:ext cx="1888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5. Design and Execute Go-To-Market Plans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1B6B73A-2ED5-5F50-01DF-D7B8AF26EBB4}"/>
              </a:ext>
            </a:extLst>
          </p:cNvPr>
          <p:cNvGrpSpPr/>
          <p:nvPr/>
        </p:nvGrpSpPr>
        <p:grpSpPr>
          <a:xfrm>
            <a:off x="4880227" y="1349827"/>
            <a:ext cx="6673144" cy="3846285"/>
            <a:chOff x="4880227" y="1596571"/>
            <a:chExt cx="6687658" cy="3860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5EB8A0-0934-2447-37E0-E3CCC18987A3}"/>
                </a:ext>
              </a:extLst>
            </p:cNvPr>
            <p:cNvSpPr/>
            <p:nvPr/>
          </p:nvSpPr>
          <p:spPr>
            <a:xfrm>
              <a:off x="4880227" y="1596571"/>
              <a:ext cx="6687658" cy="3860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Target Addressable Market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5FB2C2-8C4C-DD96-75FE-0611465323BE}"/>
                </a:ext>
              </a:extLst>
            </p:cNvPr>
            <p:cNvGrpSpPr/>
            <p:nvPr/>
          </p:nvGrpSpPr>
          <p:grpSpPr>
            <a:xfrm>
              <a:off x="5021945" y="2957616"/>
              <a:ext cx="6197601" cy="293584"/>
              <a:chOff x="2859314" y="2035185"/>
              <a:chExt cx="8153154" cy="749579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001709A-928C-E763-6C1E-3A71E2715B4B}"/>
                  </a:ext>
                </a:extLst>
              </p:cNvPr>
              <p:cNvSpPr/>
              <p:nvPr/>
            </p:nvSpPr>
            <p:spPr>
              <a:xfrm>
                <a:off x="2859314" y="2072245"/>
                <a:ext cx="4078516" cy="7125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New Logo Prospects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18FA02-EE2E-B370-9AF4-9B36B4736335}"/>
                  </a:ext>
                </a:extLst>
              </p:cNvPr>
              <p:cNvSpPr/>
              <p:nvPr/>
            </p:nvSpPr>
            <p:spPr>
              <a:xfrm>
                <a:off x="7321221" y="2035185"/>
                <a:ext cx="3691247" cy="7125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Existing Customers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0B5190E-3B6E-C22C-F22E-E7FB41743D1C}"/>
                </a:ext>
              </a:extLst>
            </p:cNvPr>
            <p:cNvGrpSpPr/>
            <p:nvPr/>
          </p:nvGrpSpPr>
          <p:grpSpPr>
            <a:xfrm>
              <a:off x="5030699" y="2053771"/>
              <a:ext cx="3031988" cy="560451"/>
              <a:chOff x="5422582" y="1887188"/>
              <a:chExt cx="2923132" cy="71251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B35AA0C-B6F4-2DE2-663A-3D0D44B68A8D}"/>
                  </a:ext>
                </a:extLst>
              </p:cNvPr>
              <p:cNvSpPr/>
              <p:nvPr/>
            </p:nvSpPr>
            <p:spPr>
              <a:xfrm>
                <a:off x="5422582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Segment 1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87CA51-0F16-21CB-C642-10A9C0700AFF}"/>
                  </a:ext>
                </a:extLst>
              </p:cNvPr>
              <p:cNvSpPr/>
              <p:nvPr/>
            </p:nvSpPr>
            <p:spPr>
              <a:xfrm>
                <a:off x="6441956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Segment 2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4F2C96-2E41-2809-60F3-2EC952830DAF}"/>
                  </a:ext>
                </a:extLst>
              </p:cNvPr>
              <p:cNvSpPr/>
              <p:nvPr/>
            </p:nvSpPr>
            <p:spPr>
              <a:xfrm>
                <a:off x="7456403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Segment 3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3857F33-9837-100D-5436-FD85C3F91217}"/>
                </a:ext>
              </a:extLst>
            </p:cNvPr>
            <p:cNvGrpSpPr/>
            <p:nvPr/>
          </p:nvGrpSpPr>
          <p:grpSpPr>
            <a:xfrm>
              <a:off x="8361724" y="2061029"/>
              <a:ext cx="3031988" cy="560451"/>
              <a:chOff x="5422582" y="1887188"/>
              <a:chExt cx="2923132" cy="712519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55C6CAA-2C61-9A88-8219-8F95693C03D2}"/>
                  </a:ext>
                </a:extLst>
              </p:cNvPr>
              <p:cNvSpPr/>
              <p:nvPr/>
            </p:nvSpPr>
            <p:spPr>
              <a:xfrm>
                <a:off x="5422582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Segment 1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B967948-ED99-7A3B-356D-958B1DCFC2D4}"/>
                  </a:ext>
                </a:extLst>
              </p:cNvPr>
              <p:cNvSpPr/>
              <p:nvPr/>
            </p:nvSpPr>
            <p:spPr>
              <a:xfrm>
                <a:off x="6441956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Segment 2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40472C-9E90-578E-728E-56A4823575F5}"/>
                  </a:ext>
                </a:extLst>
              </p:cNvPr>
              <p:cNvSpPr/>
              <p:nvPr/>
            </p:nvSpPr>
            <p:spPr>
              <a:xfrm>
                <a:off x="7456403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Segment 3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6FE31F-1FFE-4A1F-9913-35604CBE604F}"/>
                </a:ext>
              </a:extLst>
            </p:cNvPr>
            <p:cNvSpPr/>
            <p:nvPr/>
          </p:nvSpPr>
          <p:spPr>
            <a:xfrm>
              <a:off x="6141039" y="3556001"/>
              <a:ext cx="922429" cy="56045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ICE 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768EEDD-988B-572C-8F95-814FD42DB134}"/>
                </a:ext>
              </a:extLst>
            </p:cNvPr>
            <p:cNvSpPr/>
            <p:nvPr/>
          </p:nvSpPr>
          <p:spPr>
            <a:xfrm>
              <a:off x="9419061" y="3570515"/>
              <a:ext cx="922429" cy="56045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ICE B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70FC6D-B9BD-AF31-DFF4-D014E7BF5BD3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8224056" y="2032000"/>
              <a:ext cx="0" cy="34253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58DCDBB-CFAE-08B0-406D-B45D5D20FBD9}"/>
                </a:ext>
              </a:extLst>
            </p:cNvPr>
            <p:cNvGrpSpPr/>
            <p:nvPr/>
          </p:nvGrpSpPr>
          <p:grpSpPr>
            <a:xfrm>
              <a:off x="4979899" y="4426856"/>
              <a:ext cx="3031988" cy="560451"/>
              <a:chOff x="5422582" y="1887188"/>
              <a:chExt cx="2923132" cy="712519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E361EF1-227A-12A0-EFC5-E0A7210187BB}"/>
                  </a:ext>
                </a:extLst>
              </p:cNvPr>
              <p:cNvSpPr/>
              <p:nvPr/>
            </p:nvSpPr>
            <p:spPr>
              <a:xfrm>
                <a:off x="5422582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GTM 1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A276EF3-C8D0-46BA-3F64-A543312AFB9C}"/>
                  </a:ext>
                </a:extLst>
              </p:cNvPr>
              <p:cNvSpPr/>
              <p:nvPr/>
            </p:nvSpPr>
            <p:spPr>
              <a:xfrm>
                <a:off x="6441956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GTM 2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081D2DC-F6DF-7547-E01C-551C79455CC1}"/>
                  </a:ext>
                </a:extLst>
              </p:cNvPr>
              <p:cNvSpPr/>
              <p:nvPr/>
            </p:nvSpPr>
            <p:spPr>
              <a:xfrm>
                <a:off x="7456403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GTM 3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D81A735-A6D4-8B01-74C7-6039820FC0F9}"/>
                </a:ext>
              </a:extLst>
            </p:cNvPr>
            <p:cNvGrpSpPr/>
            <p:nvPr/>
          </p:nvGrpSpPr>
          <p:grpSpPr>
            <a:xfrm>
              <a:off x="8310924" y="4434114"/>
              <a:ext cx="3031988" cy="560451"/>
              <a:chOff x="5422582" y="1887188"/>
              <a:chExt cx="2923132" cy="712519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2EA86F9-BFE3-2C24-E15B-721932FAF702}"/>
                  </a:ext>
                </a:extLst>
              </p:cNvPr>
              <p:cNvSpPr/>
              <p:nvPr/>
            </p:nvSpPr>
            <p:spPr>
              <a:xfrm>
                <a:off x="5422582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GTM 4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7196812-AAB4-589E-727A-6234F9866202}"/>
                  </a:ext>
                </a:extLst>
              </p:cNvPr>
              <p:cNvSpPr/>
              <p:nvPr/>
            </p:nvSpPr>
            <p:spPr>
              <a:xfrm>
                <a:off x="6441956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GTM 5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D4777EB-DED9-82BC-45F9-57B8E8E43CC7}"/>
                  </a:ext>
                </a:extLst>
              </p:cNvPr>
              <p:cNvSpPr/>
              <p:nvPr/>
            </p:nvSpPr>
            <p:spPr>
              <a:xfrm>
                <a:off x="7456403" y="1887188"/>
                <a:ext cx="889311" cy="7125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GTM 6</a:t>
                </a:r>
              </a:p>
            </p:txBody>
          </p:sp>
        </p:grpSp>
      </p:grpSp>
      <p:sp>
        <p:nvSpPr>
          <p:cNvPr id="57" name="Right Arrow 56">
            <a:extLst>
              <a:ext uri="{FF2B5EF4-FFF2-40B4-BE49-F238E27FC236}">
                <a16:creationId xmlns:a16="http://schemas.microsoft.com/office/drawing/2014/main" id="{0AF81CF5-53F1-62FB-2AC8-D760B72F6B27}"/>
              </a:ext>
            </a:extLst>
          </p:cNvPr>
          <p:cNvSpPr/>
          <p:nvPr/>
        </p:nvSpPr>
        <p:spPr>
          <a:xfrm>
            <a:off x="4412344" y="1436913"/>
            <a:ext cx="406400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6C90FBF1-8159-BD5C-A002-AA484B2966D7}"/>
              </a:ext>
            </a:extLst>
          </p:cNvPr>
          <p:cNvSpPr/>
          <p:nvPr/>
        </p:nvSpPr>
        <p:spPr>
          <a:xfrm>
            <a:off x="4405086" y="2039256"/>
            <a:ext cx="406400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025F0336-5A9E-B688-6ECD-190846E1CFFB}"/>
              </a:ext>
            </a:extLst>
          </p:cNvPr>
          <p:cNvSpPr/>
          <p:nvPr/>
        </p:nvSpPr>
        <p:spPr>
          <a:xfrm>
            <a:off x="4390572" y="2735941"/>
            <a:ext cx="406400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89D80DDF-20D2-2301-BD5E-F14192F11341}"/>
              </a:ext>
            </a:extLst>
          </p:cNvPr>
          <p:cNvSpPr/>
          <p:nvPr/>
        </p:nvSpPr>
        <p:spPr>
          <a:xfrm>
            <a:off x="4390572" y="3490685"/>
            <a:ext cx="406400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6DC54672-3B7D-A034-9F4C-7FCBB2602AAD}"/>
              </a:ext>
            </a:extLst>
          </p:cNvPr>
          <p:cNvSpPr/>
          <p:nvPr/>
        </p:nvSpPr>
        <p:spPr>
          <a:xfrm>
            <a:off x="4376058" y="4317999"/>
            <a:ext cx="406400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>
            <a:extLst>
              <a:ext uri="{FF2B5EF4-FFF2-40B4-BE49-F238E27FC236}">
                <a16:creationId xmlns:a16="http://schemas.microsoft.com/office/drawing/2014/main" id="{36D1721B-BA85-3F3C-49C2-A282FB712F34}"/>
              </a:ext>
            </a:extLst>
          </p:cNvPr>
          <p:cNvSpPr/>
          <p:nvPr/>
        </p:nvSpPr>
        <p:spPr>
          <a:xfrm>
            <a:off x="8069943" y="5384799"/>
            <a:ext cx="261257" cy="449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0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35E7-22E6-06D3-20B6-4C053F5C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6" y="374957"/>
            <a:ext cx="10515600" cy="755343"/>
          </a:xfrm>
        </p:spPr>
        <p:txBody>
          <a:bodyPr>
            <a:normAutofit/>
          </a:bodyPr>
          <a:lstStyle/>
          <a:p>
            <a:r>
              <a:rPr lang="en-US" sz="3600" dirty="0"/>
              <a:t>Calculation of needed MRC to achieve growth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1C023-C780-425F-16B2-E75091814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78" y="2002606"/>
            <a:ext cx="4638368" cy="4351338"/>
          </a:xfrm>
        </p:spPr>
        <p:txBody>
          <a:bodyPr>
            <a:normAutofit/>
          </a:bodyPr>
          <a:lstStyle/>
          <a:p>
            <a:r>
              <a:rPr lang="en-US" sz="2000" dirty="0"/>
              <a:t>MRR REVENUE  X 10% = NET GROWTH NEEDED</a:t>
            </a:r>
          </a:p>
          <a:p>
            <a:pPr marL="0" indent="0">
              <a:buNone/>
            </a:pPr>
            <a:r>
              <a:rPr lang="en-US" sz="2000" dirty="0"/>
              <a:t>+ CHURN OF (X)</a:t>
            </a:r>
          </a:p>
          <a:p>
            <a:pPr marL="0" indent="0">
              <a:buNone/>
            </a:pPr>
            <a:r>
              <a:rPr lang="en-US" sz="2000" dirty="0"/>
              <a:t>= GROSS BOOKINGS NEEDED</a:t>
            </a:r>
          </a:p>
          <a:p>
            <a:pPr marL="0" indent="0">
              <a:buNone/>
            </a:pPr>
            <a:r>
              <a:rPr lang="en-US" sz="2000" dirty="0"/>
              <a:t>	= SELF FULFILLING GROWTH = X%</a:t>
            </a:r>
          </a:p>
          <a:p>
            <a:pPr marL="0" indent="0">
              <a:buNone/>
            </a:pPr>
            <a:r>
              <a:rPr lang="en-US" sz="2000" dirty="0"/>
              <a:t>	+ NEW BOOKINGS = X%</a:t>
            </a:r>
          </a:p>
          <a:p>
            <a:pPr marL="0" indent="0">
              <a:buNone/>
            </a:pPr>
            <a:r>
              <a:rPr lang="en-US" sz="2000" dirty="0"/>
              <a:t>		- NEW LOGO%</a:t>
            </a:r>
          </a:p>
          <a:p>
            <a:pPr marL="0" indent="0">
              <a:buNone/>
            </a:pPr>
            <a:r>
              <a:rPr lang="en-US" sz="2000" dirty="0"/>
              <a:t>		- EXISTING CUSTOMER</a:t>
            </a:r>
          </a:p>
          <a:p>
            <a:pPr marL="0" indent="0">
              <a:buNone/>
            </a:pPr>
            <a:r>
              <a:rPr lang="en-US" sz="2000" dirty="0"/>
              <a:t>	= TOTAL GROSS BOOKINGS </a:t>
            </a:r>
          </a:p>
          <a:p>
            <a:pPr marL="0" indent="0">
              <a:buNone/>
            </a:pPr>
            <a:r>
              <a:rPr lang="en-US" sz="2000" dirty="0"/>
              <a:t> / 78 = MONTHLY MRR TARGET = X</a:t>
            </a:r>
          </a:p>
          <a:p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87C1B9-C087-F507-BAFD-5CFA4959C46F}"/>
              </a:ext>
            </a:extLst>
          </p:cNvPr>
          <p:cNvSpPr txBox="1">
            <a:spLocks/>
          </p:cNvSpPr>
          <p:nvPr/>
        </p:nvSpPr>
        <p:spPr>
          <a:xfrm>
            <a:off x="5660923" y="1909200"/>
            <a:ext cx="56805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2000" dirty="0"/>
              <a:t>PRODUCTS WE’LL SELL</a:t>
            </a:r>
          </a:p>
          <a:p>
            <a:pPr>
              <a:buFontTx/>
              <a:buChar char="-"/>
            </a:pPr>
            <a:r>
              <a:rPr lang="en-US" sz="2000" dirty="0"/>
              <a:t>ACTIVITIES WE’LL EXECUTE ON</a:t>
            </a:r>
          </a:p>
          <a:p>
            <a:pPr>
              <a:buFontTx/>
              <a:buChar char="-"/>
            </a:pPr>
            <a:r>
              <a:rPr lang="en-US" sz="2000" dirty="0"/>
              <a:t>CAMPAIGNS WE’LL DEVELOP AND EXECUTE</a:t>
            </a:r>
          </a:p>
          <a:p>
            <a:pPr>
              <a:buFontTx/>
              <a:buChar char="-"/>
            </a:pPr>
            <a:r>
              <a:rPr lang="en-US" sz="2000" dirty="0"/>
              <a:t>NUMBER OF REPS</a:t>
            </a:r>
          </a:p>
          <a:p>
            <a:pPr>
              <a:buFontTx/>
              <a:buChar char="-"/>
            </a:pPr>
            <a:r>
              <a:rPr lang="en-US" sz="2000" dirty="0"/>
              <a:t>QUOTA</a:t>
            </a:r>
          </a:p>
          <a:p>
            <a:pPr>
              <a:buFontTx/>
              <a:buChar char="-"/>
            </a:pPr>
            <a:endParaRPr lang="en-US" sz="2000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56F9C469-9E65-DA9C-D29A-3FA67DA2B475}"/>
              </a:ext>
            </a:extLst>
          </p:cNvPr>
          <p:cNvSpPr/>
          <p:nvPr/>
        </p:nvSpPr>
        <p:spPr>
          <a:xfrm>
            <a:off x="4975123" y="4119716"/>
            <a:ext cx="58993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14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98AC-89C1-37AC-F268-A3CD29CFE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789"/>
          </a:xfrm>
        </p:spPr>
        <p:txBody>
          <a:bodyPr>
            <a:normAutofit fontScale="90000"/>
          </a:bodyPr>
          <a:lstStyle/>
          <a:p>
            <a:r>
              <a:rPr lang="en-US" dirty="0"/>
              <a:t>Tip of the Spear process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BCE480-3A15-38E6-F075-74527C117583}"/>
              </a:ext>
            </a:extLst>
          </p:cNvPr>
          <p:cNvSpPr/>
          <p:nvPr/>
        </p:nvSpPr>
        <p:spPr>
          <a:xfrm>
            <a:off x="649514" y="3884386"/>
            <a:ext cx="1378857" cy="870857"/>
          </a:xfrm>
          <a:prstGeom prst="rect">
            <a:avLst/>
          </a:prstGeom>
          <a:solidFill>
            <a:srgbClr val="7030A0">
              <a:alpha val="14059"/>
            </a:srgbClr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P.S. </a:t>
            </a:r>
            <a:r>
              <a:rPr lang="en-US" sz="1400" b="1" i="1" u="sng" dirty="0">
                <a:solidFill>
                  <a:schemeClr val="tx1"/>
                </a:solidFill>
              </a:rPr>
              <a:t>Advisory</a:t>
            </a:r>
            <a:r>
              <a:rPr lang="en-US" sz="1400" dirty="0">
                <a:solidFill>
                  <a:schemeClr val="tx1"/>
                </a:solidFill>
              </a:rPr>
              <a:t>  Engagement </a:t>
            </a:r>
          </a:p>
        </p:txBody>
      </p:sp>
      <p:sp>
        <p:nvSpPr>
          <p:cNvPr id="5" name="Document 4">
            <a:extLst>
              <a:ext uri="{FF2B5EF4-FFF2-40B4-BE49-F238E27FC236}">
                <a16:creationId xmlns:a16="http://schemas.microsoft.com/office/drawing/2014/main" id="{F346B8D2-5BDF-ACDD-5675-E41E33B8ED47}"/>
              </a:ext>
            </a:extLst>
          </p:cNvPr>
          <p:cNvSpPr/>
          <p:nvPr/>
        </p:nvSpPr>
        <p:spPr>
          <a:xfrm>
            <a:off x="2291441" y="3971471"/>
            <a:ext cx="1335315" cy="696686"/>
          </a:xfrm>
          <a:prstGeom prst="flowChartDocumen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2060"/>
                </a:solidFill>
              </a:rPr>
              <a:t>Advice &amp; recommendation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EC8DD5-59C0-1977-96F8-5F989DF08CA9}"/>
              </a:ext>
            </a:extLst>
          </p:cNvPr>
          <p:cNvGrpSpPr/>
          <p:nvPr/>
        </p:nvGrpSpPr>
        <p:grpSpPr>
          <a:xfrm>
            <a:off x="8416471" y="2356757"/>
            <a:ext cx="2133600" cy="1973943"/>
            <a:chOff x="7155543" y="1277257"/>
            <a:chExt cx="2133600" cy="197394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6BB3B7-83C9-4885-EE81-69CC0BC7AE64}"/>
                </a:ext>
              </a:extLst>
            </p:cNvPr>
            <p:cNvSpPr/>
            <p:nvPr/>
          </p:nvSpPr>
          <p:spPr>
            <a:xfrm>
              <a:off x="7155543" y="1277257"/>
              <a:ext cx="2133600" cy="1973943"/>
            </a:xfrm>
            <a:prstGeom prst="rect">
              <a:avLst/>
            </a:prstGeom>
            <a:solidFill>
              <a:schemeClr val="bg2">
                <a:lumMod val="90000"/>
                <a:alpha val="23019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1745B2-4B57-A9B6-B3C9-5E1D1FA14ADB}"/>
                </a:ext>
              </a:extLst>
            </p:cNvPr>
            <p:cNvSpPr/>
            <p:nvPr/>
          </p:nvSpPr>
          <p:spPr>
            <a:xfrm>
              <a:off x="7503885" y="2162629"/>
              <a:ext cx="1400629" cy="870857"/>
            </a:xfrm>
            <a:prstGeom prst="rect">
              <a:avLst/>
            </a:prstGeom>
            <a:solidFill>
              <a:srgbClr val="7030A0">
                <a:alpha val="14059"/>
              </a:srgbClr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Public or Private Compute Platform Sale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98805C-25CD-264D-27AE-DFF1373F6246}"/>
                </a:ext>
              </a:extLst>
            </p:cNvPr>
            <p:cNvSpPr/>
            <p:nvPr/>
          </p:nvSpPr>
          <p:spPr>
            <a:xfrm>
              <a:off x="7525656" y="1473200"/>
              <a:ext cx="1400629" cy="515257"/>
            </a:xfrm>
            <a:prstGeom prst="rect">
              <a:avLst/>
            </a:prstGeom>
            <a:solidFill>
              <a:srgbClr val="7030A0">
                <a:alpha val="14059"/>
              </a:srgbClr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Management Services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2C96A46-1531-13E6-8BC2-EF208E6DB292}"/>
              </a:ext>
            </a:extLst>
          </p:cNvPr>
          <p:cNvSpPr/>
          <p:nvPr/>
        </p:nvSpPr>
        <p:spPr>
          <a:xfrm>
            <a:off x="8416471" y="5074557"/>
            <a:ext cx="1400629" cy="870857"/>
          </a:xfrm>
          <a:prstGeom prst="rect">
            <a:avLst/>
          </a:prstGeom>
          <a:solidFill>
            <a:srgbClr val="7030A0">
              <a:alpha val="14059"/>
            </a:srgbClr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Public or Private Compute Platform Sale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C9C9A1-56E2-1318-838C-6B75DADFFD3B}"/>
              </a:ext>
            </a:extLst>
          </p:cNvPr>
          <p:cNvSpPr/>
          <p:nvPr/>
        </p:nvSpPr>
        <p:spPr>
          <a:xfrm>
            <a:off x="5386614" y="3884386"/>
            <a:ext cx="1378857" cy="870857"/>
          </a:xfrm>
          <a:prstGeom prst="rect">
            <a:avLst/>
          </a:prstGeom>
          <a:solidFill>
            <a:srgbClr val="7030A0">
              <a:alpha val="14059"/>
            </a:srgbClr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P.S. </a:t>
            </a:r>
            <a:r>
              <a:rPr lang="en-US" sz="1400" b="1" i="1" u="sng" dirty="0">
                <a:solidFill>
                  <a:schemeClr val="tx1"/>
                </a:solidFill>
              </a:rPr>
              <a:t>Execute</a:t>
            </a:r>
            <a:r>
              <a:rPr lang="en-US" sz="1400" dirty="0">
                <a:solidFill>
                  <a:schemeClr val="tx1"/>
                </a:solidFill>
              </a:rPr>
              <a:t>  Engagement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819E1E-B9F5-935D-F153-B7861F7B3AFE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 flipV="1">
            <a:off x="6765471" y="3343729"/>
            <a:ext cx="1651000" cy="9760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EE98A5-A6F7-19F3-148E-83DFDE0C567D}"/>
              </a:ext>
            </a:extLst>
          </p:cNvPr>
          <p:cNvCxnSpPr>
            <a:cxnSpLocks/>
            <a:stCxn id="19" idx="3"/>
            <a:endCxn id="9" idx="1"/>
          </p:cNvCxnSpPr>
          <p:nvPr/>
        </p:nvCxnSpPr>
        <p:spPr>
          <a:xfrm>
            <a:off x="6765471" y="4319815"/>
            <a:ext cx="1651000" cy="11901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38AC57D-D0A8-3DCC-3521-6054631A0E64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2028371" y="4319814"/>
            <a:ext cx="263070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ocument 30">
            <a:extLst>
              <a:ext uri="{FF2B5EF4-FFF2-40B4-BE49-F238E27FC236}">
                <a16:creationId xmlns:a16="http://schemas.microsoft.com/office/drawing/2014/main" id="{2C27A29F-6A60-E377-5410-9BE6E4400444}"/>
              </a:ext>
            </a:extLst>
          </p:cNvPr>
          <p:cNvSpPr/>
          <p:nvPr/>
        </p:nvSpPr>
        <p:spPr>
          <a:xfrm>
            <a:off x="4196441" y="3971471"/>
            <a:ext cx="858159" cy="696686"/>
          </a:xfrm>
          <a:prstGeom prst="flowChartDocumen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2060"/>
                </a:solidFill>
              </a:rPr>
              <a:t>Proposal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3A2DBFA-AEAC-D672-C7A0-D5E65BF48D8B}"/>
              </a:ext>
            </a:extLst>
          </p:cNvPr>
          <p:cNvCxnSpPr>
            <a:cxnSpLocks/>
            <a:stCxn id="5" idx="3"/>
            <a:endCxn id="31" idx="1"/>
          </p:cNvCxnSpPr>
          <p:nvPr/>
        </p:nvCxnSpPr>
        <p:spPr>
          <a:xfrm>
            <a:off x="3626756" y="4319814"/>
            <a:ext cx="56968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26B6C9-43AA-297A-14A9-C10AFF0A3C87}"/>
              </a:ext>
            </a:extLst>
          </p:cNvPr>
          <p:cNvCxnSpPr>
            <a:cxnSpLocks/>
            <a:stCxn id="31" idx="3"/>
            <a:endCxn id="19" idx="1"/>
          </p:cNvCxnSpPr>
          <p:nvPr/>
        </p:nvCxnSpPr>
        <p:spPr>
          <a:xfrm>
            <a:off x="5054600" y="4319814"/>
            <a:ext cx="332014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Left Bracket 45">
            <a:extLst>
              <a:ext uri="{FF2B5EF4-FFF2-40B4-BE49-F238E27FC236}">
                <a16:creationId xmlns:a16="http://schemas.microsoft.com/office/drawing/2014/main" id="{288AF71C-7D7A-A57B-237B-966CE508029D}"/>
              </a:ext>
            </a:extLst>
          </p:cNvPr>
          <p:cNvSpPr/>
          <p:nvPr/>
        </p:nvSpPr>
        <p:spPr>
          <a:xfrm rot="5400000">
            <a:off x="3587750" y="425450"/>
            <a:ext cx="203200" cy="6210300"/>
          </a:xfrm>
          <a:prstGeom prst="lef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C4E22B-9ABF-5665-A5C8-7EA2EFB46E6B}"/>
              </a:ext>
            </a:extLst>
          </p:cNvPr>
          <p:cNvSpPr txBox="1"/>
          <p:nvPr/>
        </p:nvSpPr>
        <p:spPr>
          <a:xfrm>
            <a:off x="2501900" y="3009900"/>
            <a:ext cx="2394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 Recurring Revenue</a:t>
            </a:r>
          </a:p>
        </p:txBody>
      </p:sp>
      <p:sp>
        <p:nvSpPr>
          <p:cNvPr id="50" name="Left Bracket 49">
            <a:extLst>
              <a:ext uri="{FF2B5EF4-FFF2-40B4-BE49-F238E27FC236}">
                <a16:creationId xmlns:a16="http://schemas.microsoft.com/office/drawing/2014/main" id="{83AEBBCF-B778-0454-548F-72F8354C1057}"/>
              </a:ext>
            </a:extLst>
          </p:cNvPr>
          <p:cNvSpPr/>
          <p:nvPr/>
        </p:nvSpPr>
        <p:spPr>
          <a:xfrm rot="5400000">
            <a:off x="8953500" y="101600"/>
            <a:ext cx="190500" cy="3263900"/>
          </a:xfrm>
          <a:prstGeom prst="lef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86227B-60C0-45CB-BE87-02319EC65AD2}"/>
              </a:ext>
            </a:extLst>
          </p:cNvPr>
          <p:cNvSpPr txBox="1"/>
          <p:nvPr/>
        </p:nvSpPr>
        <p:spPr>
          <a:xfrm>
            <a:off x="7734300" y="1206500"/>
            <a:ext cx="2796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Monthly Recurring Revenue</a:t>
            </a:r>
          </a:p>
        </p:txBody>
      </p:sp>
    </p:spTree>
    <p:extLst>
      <p:ext uri="{BB962C8B-B14F-4D97-AF65-F5344CB8AC3E}">
        <p14:creationId xmlns:p14="http://schemas.microsoft.com/office/powerpoint/2010/main" val="3050092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439F-FAA5-6044-AB16-DD827A97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Immediate Focus – Build a plan and…</a:t>
            </a:r>
            <a:br>
              <a:rPr lang="en-US" b="1" kern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prstClr val="black"/>
                </a:solidFill>
                <a:latin typeface="Times-Roman"/>
              </a:rPr>
              <a:t>(first 10-30 days)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9ECC6-34B8-22A3-1B86-AABE8094D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41" y="1761991"/>
            <a:ext cx="3389416" cy="4351338"/>
          </a:xfrm>
        </p:spPr>
        <p:txBody>
          <a:bodyPr>
            <a:normAutofit fontScale="92500" lnSpcReduction="10000"/>
          </a:bodyPr>
          <a:lstStyle/>
          <a:p>
            <a:pPr marL="0" marR="0">
              <a:buNone/>
            </a:pPr>
            <a:r>
              <a:rPr lang="en-US" sz="1800" b="1" kern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&amp; Marketing</a:t>
            </a:r>
            <a:endParaRPr lang="en-US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Take actions to clean up pipeline and enforce cleanliness and data  discipline thereby improving forecasting.</a:t>
            </a:r>
            <a:endParaRPr lang="en-US" sz="1800" dirty="0">
              <a:solidFill>
                <a:srgbClr val="00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 to address sales team structure and productivity</a:t>
            </a: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  specific campaigns that grow current base by 15-20%, and new logos by 20% . </a:t>
            </a: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the ELT to evaluate, and build plan to address known product gaps and pricing issues.</a:t>
            </a:r>
            <a:endParaRPr lang="en-US" sz="1800" dirty="0">
              <a:solidFill>
                <a:srgbClr val="00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 AI enabled sales process that maximizes customer knowledge and broader market reach</a:t>
            </a: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endParaRPr lang="en-US" sz="1800" dirty="0">
              <a:solidFill>
                <a:srgbClr val="00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266404-389C-72C3-B8EE-700DAD9FCB23}"/>
              </a:ext>
            </a:extLst>
          </p:cNvPr>
          <p:cNvSpPr>
            <a:spLocks noGrp="1"/>
          </p:cNvSpPr>
          <p:nvPr/>
        </p:nvSpPr>
        <p:spPr>
          <a:xfrm>
            <a:off x="4294413" y="1761991"/>
            <a:ext cx="35319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800" b="1" kern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all extraneous process, people and services that yield limited return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delivery capacity vs pipeline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full understanding of employee capabilities, and how to ensure their availability for billable work as needed.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SLA performance and incident trends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and develop the ability to  be AI driven in all of our advisory and consulting deliverables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728EAA-0B75-EFA1-FFC2-8F8AAFF23C1D}"/>
              </a:ext>
            </a:extLst>
          </p:cNvPr>
          <p:cNvSpPr>
            <a:spLocks noGrp="1"/>
          </p:cNvSpPr>
          <p:nvPr/>
        </p:nvSpPr>
        <p:spPr>
          <a:xfrm>
            <a:off x="8192531" y="1761991"/>
            <a:ext cx="38594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800" b="1" kern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 &amp; Administration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 financial reporting to provide support for the investment thesis and the variables that most impact enterprise valuation and equity story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singe source of truth for shared metrics reporting.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 Organizational Changes needed to fund other efforts or resources.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business case template that can easily be used by Sales reps and/or sales leaders to assess hurdle rates and automatically approve deals.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utilize HR systems to build inventory of employee skills and capabilities along with billable rate to support Operations. </a:t>
            </a:r>
          </a:p>
          <a:p>
            <a:pPr marL="342900" indent="-342900">
              <a:buFont typeface="+mj-lt"/>
              <a:buAutoNum type="arabicPeriod"/>
            </a:pPr>
            <a:endParaRPr lang="en-US" sz="1800" kern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30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0AD60-87CD-5B81-457F-5919C84F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776D-DC70-3453-7D92-3AF3D1FD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335"/>
            <a:ext cx="10515600" cy="105991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Times-Bold"/>
              </a:rPr>
              <a:t>Mid Term Focus Areas</a:t>
            </a:r>
            <a:br>
              <a:rPr lang="en-US" b="1" dirty="0">
                <a:solidFill>
                  <a:prstClr val="black"/>
                </a:solidFill>
                <a:latin typeface="Times-Bold"/>
              </a:rPr>
            </a:br>
            <a:r>
              <a:rPr lang="en-US" sz="2000" dirty="0">
                <a:solidFill>
                  <a:prstClr val="black"/>
                </a:solidFill>
                <a:latin typeface="Times-Roman"/>
              </a:rPr>
              <a:t>(DAY  60-90)</a:t>
            </a:r>
            <a:endParaRPr lang="en-US" sz="13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64D4B0-0565-1720-38E4-3A3B7C81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Work to fully understand the Company’s technical debt and how Ai can be used to accelerate it’s clean up.  (Full ELT)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Establish Ai approach to service delivery.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Execute follow on changes in people and Org Structure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Publish product strategy roadmap.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Introduce new approach to training new and existing employees.  (Especially Sales reps) </a:t>
            </a:r>
          </a:p>
        </p:txBody>
      </p:sp>
    </p:spTree>
    <p:extLst>
      <p:ext uri="{BB962C8B-B14F-4D97-AF65-F5344CB8AC3E}">
        <p14:creationId xmlns:p14="http://schemas.microsoft.com/office/powerpoint/2010/main" val="1744529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C228-0F85-F094-E66F-A764DF2D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6FB77-4908-BA68-67D8-3327D98CA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22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35">
            <a:extLst>
              <a:ext uri="{FF2B5EF4-FFF2-40B4-BE49-F238E27FC236}">
                <a16:creationId xmlns:a16="http://schemas.microsoft.com/office/drawing/2014/main" id="{34FCA2FC-6565-F007-973F-FA2268C6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41" y="305749"/>
            <a:ext cx="4161312" cy="739280"/>
          </a:xfrm>
        </p:spPr>
        <p:txBody>
          <a:bodyPr>
            <a:normAutofit fontScale="90000"/>
          </a:bodyPr>
          <a:lstStyle/>
          <a:p>
            <a:r>
              <a:rPr lang="en-US" b="1" kern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SVP Sales&amp; Mktg</a:t>
            </a: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02D1BFA2-6B5C-92A3-099C-6D557CFBA9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945" y="1770482"/>
            <a:ext cx="50638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Owns: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Revenue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Pipeline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Demand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Strategic accounts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Pricing framework (within guardrails)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Brand positioning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Partner ecosystem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337CE1-181E-E6F4-02C8-EB7D2D334D6A}"/>
              </a:ext>
            </a:extLst>
          </p:cNvPr>
          <p:cNvSpPr txBox="1"/>
          <p:nvPr/>
        </p:nvSpPr>
        <p:spPr>
          <a:xfrm>
            <a:off x="5661561" y="1794922"/>
            <a:ext cx="60979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Focus Metrics: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ARR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Net new logos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Average deal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Net Revenue Retention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Pipeline coverage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359364-CC06-F534-2FE5-DE828A94FA1D}"/>
              </a:ext>
            </a:extLst>
          </p:cNvPr>
          <p:cNvSpPr txBox="1"/>
          <p:nvPr/>
        </p:nvSpPr>
        <p:spPr>
          <a:xfrm>
            <a:off x="1042059" y="5329489"/>
            <a:ext cx="10025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SVP ensures market demand fuels the business — without compromising margin integrity.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137B73-D6C0-63B1-C1C6-85857CD78692}"/>
              </a:ext>
            </a:extLst>
          </p:cNvPr>
          <p:cNvSpPr txBox="1"/>
          <p:nvPr/>
        </p:nvSpPr>
        <p:spPr>
          <a:xfrm>
            <a:off x="6958941" y="424979"/>
            <a:ext cx="4868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Primary Mandate: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Drive predictable, profitable revenue growth.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105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9247-3643-E692-D53A-4B14F827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6878-1438-F110-3114-0EFBA605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68" y="293874"/>
            <a:ext cx="3603171" cy="846158"/>
          </a:xfrm>
        </p:spPr>
        <p:txBody>
          <a:bodyPr/>
          <a:lstStyle/>
          <a:p>
            <a:r>
              <a:rPr lang="en-US" sz="4000" b="1" kern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 Operations</a:t>
            </a:r>
          </a:p>
        </p:txBody>
      </p:sp>
      <p:sp>
        <p:nvSpPr>
          <p:cNvPr id="880" name="Rectangle 861">
            <a:extLst>
              <a:ext uri="{FF2B5EF4-FFF2-40B4-BE49-F238E27FC236}">
                <a16:creationId xmlns:a16="http://schemas.microsoft.com/office/drawing/2014/main" id="{23066335-A560-1DA5-43D3-9772415CF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4464" y="1901111"/>
            <a:ext cx="360317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Owns: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Service delivery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Managed services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Infrastructure platform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SLA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Service standardization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Delivery margin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Operational automation</a:t>
            </a:r>
          </a:p>
        </p:txBody>
      </p:sp>
      <p:sp>
        <p:nvSpPr>
          <p:cNvPr id="882" name="TextBox 881">
            <a:extLst>
              <a:ext uri="{FF2B5EF4-FFF2-40B4-BE49-F238E27FC236}">
                <a16:creationId xmlns:a16="http://schemas.microsoft.com/office/drawing/2014/main" id="{6F23E5F9-3BA1-0040-85A6-2D75AFDC30CA}"/>
              </a:ext>
            </a:extLst>
          </p:cNvPr>
          <p:cNvSpPr txBox="1"/>
          <p:nvPr/>
        </p:nvSpPr>
        <p:spPr>
          <a:xfrm>
            <a:off x="6552211" y="1913676"/>
            <a:ext cx="31736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Focus Metrics: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Gross margin by service 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SLA adherence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Customer 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Cost of delivery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Utilization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Scalability readiness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84" name="TextBox 883">
            <a:extLst>
              <a:ext uri="{FF2B5EF4-FFF2-40B4-BE49-F238E27FC236}">
                <a16:creationId xmlns:a16="http://schemas.microsoft.com/office/drawing/2014/main" id="{E6D83D4E-9B05-89D0-33BF-019658EC38F0}"/>
              </a:ext>
            </a:extLst>
          </p:cNvPr>
          <p:cNvSpPr txBox="1"/>
          <p:nvPr/>
        </p:nvSpPr>
        <p:spPr>
          <a:xfrm>
            <a:off x="5854534" y="353729"/>
            <a:ext cx="6466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Primary Mandate: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Deliver services with excellence, efficiency, and scalability.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86" name="TextBox 885">
            <a:extLst>
              <a:ext uri="{FF2B5EF4-FFF2-40B4-BE49-F238E27FC236}">
                <a16:creationId xmlns:a16="http://schemas.microsoft.com/office/drawing/2014/main" id="{0C871458-7F00-2CCD-B8A8-9F77E07FE359}"/>
              </a:ext>
            </a:extLst>
          </p:cNvPr>
          <p:cNvSpPr txBox="1"/>
          <p:nvPr/>
        </p:nvSpPr>
        <p:spPr>
          <a:xfrm>
            <a:off x="2179122" y="4937603"/>
            <a:ext cx="7855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VP ensures the company can deliver what it sells — profitably.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221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5D179-9C56-2BDC-5431-101CA1657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C9F8-51CB-ACB6-F355-EB6D7710A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39" y="222622"/>
            <a:ext cx="2700647" cy="644278"/>
          </a:xfrm>
        </p:spPr>
        <p:txBody>
          <a:bodyPr>
            <a:normAutofit/>
          </a:bodyPr>
          <a:lstStyle/>
          <a:p>
            <a:r>
              <a:rPr lang="en-US" sz="4000" b="1" kern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54F614-6AE4-B76A-E174-59020DB11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951" y="1481241"/>
            <a:ext cx="394755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Owns:</a:t>
            </a:r>
          </a:p>
          <a:p>
            <a:endParaRPr lang="en-US" sz="1800" dirty="0"/>
          </a:p>
          <a:p>
            <a:r>
              <a:rPr lang="en-US" sz="1800" dirty="0"/>
              <a:t>Financial planning &amp; analysis</a:t>
            </a:r>
          </a:p>
          <a:p>
            <a:r>
              <a:rPr lang="en-US" sz="1800" dirty="0"/>
              <a:t>Margin guardrails</a:t>
            </a:r>
          </a:p>
          <a:p>
            <a:r>
              <a:rPr lang="en-US" sz="1800" dirty="0"/>
              <a:t>EBITDA integrity</a:t>
            </a:r>
          </a:p>
          <a:p>
            <a:r>
              <a:rPr lang="en-US" sz="1800" dirty="0"/>
              <a:t>Working capital management</a:t>
            </a:r>
          </a:p>
          <a:p>
            <a:r>
              <a:rPr lang="en-US" sz="1800" dirty="0"/>
              <a:t>Revenue recognition</a:t>
            </a:r>
          </a:p>
          <a:p>
            <a:r>
              <a:rPr lang="en-US" sz="1800" dirty="0"/>
              <a:t>Capital structure</a:t>
            </a:r>
          </a:p>
          <a:p>
            <a:r>
              <a:rPr lang="en-US" sz="1800" dirty="0"/>
              <a:t>Financial risk oversight</a:t>
            </a:r>
          </a:p>
          <a:p>
            <a:r>
              <a:rPr lang="en-US" sz="1800" dirty="0"/>
              <a:t>Board financial reporting</a:t>
            </a:r>
          </a:p>
          <a:p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3E795-A00A-F356-FEC4-419BBB7E2B58}"/>
              </a:ext>
            </a:extLst>
          </p:cNvPr>
          <p:cNvSpPr txBox="1"/>
          <p:nvPr/>
        </p:nvSpPr>
        <p:spPr>
          <a:xfrm>
            <a:off x="6385956" y="1553411"/>
            <a:ext cx="34468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Focus Metrics: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Gross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EBITDA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Cash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Recurring revenue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Capital efficiency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BD8B7-6A2C-32CE-7D96-764968B1673C}"/>
              </a:ext>
            </a:extLst>
          </p:cNvPr>
          <p:cNvSpPr txBox="1"/>
          <p:nvPr/>
        </p:nvSpPr>
        <p:spPr>
          <a:xfrm>
            <a:off x="3420094" y="310231"/>
            <a:ext cx="8291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Primary Mandate:</a:t>
            </a:r>
            <a:br>
              <a:rPr lang="en-US" dirty="0"/>
            </a:br>
            <a:r>
              <a:rPr lang="en-US" dirty="0"/>
              <a:t>Ensure growth converts into durable, profitable, and fundable performance.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41F8C-6627-0F25-F250-ED720C5139EE}"/>
              </a:ext>
            </a:extLst>
          </p:cNvPr>
          <p:cNvSpPr txBox="1"/>
          <p:nvPr/>
        </p:nvSpPr>
        <p:spPr>
          <a:xfrm>
            <a:off x="2989613" y="5931125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CFO protects valuation by ensuring financial predictability.</a:t>
            </a:r>
          </a:p>
        </p:txBody>
      </p:sp>
    </p:spTree>
    <p:extLst>
      <p:ext uri="{BB962C8B-B14F-4D97-AF65-F5344CB8AC3E}">
        <p14:creationId xmlns:p14="http://schemas.microsoft.com/office/powerpoint/2010/main" val="3653963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4658</TotalTime>
  <Words>1514</Words>
  <Application>Microsoft Macintosh PowerPoint</Application>
  <PresentationFormat>Widescreen</PresentationFormat>
  <Paragraphs>300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Franklin Gothic Book</vt:lpstr>
      <vt:lpstr>Symbol</vt:lpstr>
      <vt:lpstr>Times New Roman</vt:lpstr>
      <vt:lpstr>Times-Bold</vt:lpstr>
      <vt:lpstr>Times-Roman</vt:lpstr>
      <vt:lpstr>Office Theme</vt:lpstr>
      <vt:lpstr>APTUM  2026 Second Half Kickoff</vt:lpstr>
      <vt:lpstr>How we work together. </vt:lpstr>
      <vt:lpstr>ENTERPRISE OPERATING MODEL</vt:lpstr>
      <vt:lpstr>Executive Team Objectives &amp; Responsibilities</vt:lpstr>
      <vt:lpstr>Shared Enterprise Metrics The Executive Team will share accountability for the company’s core value drivers &amp; metrics.</vt:lpstr>
      <vt:lpstr>Board Interaction </vt:lpstr>
      <vt:lpstr>Where we have to get to.</vt:lpstr>
      <vt:lpstr>Our “Exit” Criteria…</vt:lpstr>
      <vt:lpstr>…Drive the strategies and tactics of our plan</vt:lpstr>
      <vt:lpstr>…Drive the strategies and tactics of our plan</vt:lpstr>
      <vt:lpstr>Defining and Using the Ideal Customer Profile</vt:lpstr>
      <vt:lpstr>Calculation of needed MRC to achieve growth target</vt:lpstr>
      <vt:lpstr>Tip of the Spear process</vt:lpstr>
      <vt:lpstr>Immediate Focus – Build a plan and… (first 10-30 days)</vt:lpstr>
      <vt:lpstr>Mid Term Focus Areas (DAY  60-90)</vt:lpstr>
      <vt:lpstr>Appendix Slides</vt:lpstr>
      <vt:lpstr>SVP Sales&amp; Mktg</vt:lpstr>
      <vt:lpstr>VP Operations</vt:lpstr>
      <vt:lpstr>CFO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Pistacchio</dc:creator>
  <cp:keywords/>
  <dc:description/>
  <cp:lastModifiedBy>David Pistacchio</cp:lastModifiedBy>
  <cp:revision>17</cp:revision>
  <dcterms:created xsi:type="dcterms:W3CDTF">2026-03-10T16:52:43Z</dcterms:created>
  <dcterms:modified xsi:type="dcterms:W3CDTF">2026-03-26T16:37:01Z</dcterms:modified>
  <cp:category/>
</cp:coreProperties>
</file>